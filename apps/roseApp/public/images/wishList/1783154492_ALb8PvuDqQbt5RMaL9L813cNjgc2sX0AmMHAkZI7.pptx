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637"/>
  </p:normalViewPr>
  <p:slideViewPr>
    <p:cSldViewPr snapToGrid="0" snapToObjects="1">
      <p:cViewPr varScale="1">
        <p:scale>
          <a:sx n="103" d="100"/>
          <a:sy n="103" d="100"/>
        </p:scale>
        <p:origin x="72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44287" y="640080"/>
            <a:ext cx="2103120" cy="21031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159" y="758952"/>
            <a:ext cx="1865376" cy="18653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971800"/>
            <a:ext cx="12191695" cy="408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Arial"/>
                <a:cs typeface="Arial"/>
              </a:rPr>
              <a:t>أكاديمية أحمد حسن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20440"/>
            <a:ext cx="12191695" cy="57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4000" b="1">
                <a:solidFill>
                  <a:srgbClr val="F3D9A6"/>
                </a:solidFill>
                <a:latin typeface="Arial"/>
                <a:cs typeface="Arial"/>
              </a:rPr>
              <a:t>هنخليك تتكلم إنجليزي في أقصر وقت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8167" y="4526280"/>
            <a:ext cx="859536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40000"/>
              </a:lnSpc>
            </a:pPr>
            <a:r>
              <a:rPr sz="1600" b="0">
                <a:solidFill>
                  <a:srgbClr val="D9E2F2"/>
                </a:solidFill>
                <a:latin typeface="Arial"/>
                <a:cs typeface="Arial"/>
              </a:rPr>
              <a:t>كل خطوة معانا ليها هدف: تتكلم إنجليزي بثقة ومن غير خوف — وسياسة واضحة تحميك</a:t>
            </a:r>
          </a:p>
        </p:txBody>
      </p:sp>
      <p:sp>
        <p:nvSpPr>
          <p:cNvPr id="8" name="Oval 7"/>
          <p:cNvSpPr/>
          <p:nvPr/>
        </p:nvSpPr>
        <p:spPr>
          <a:xfrm>
            <a:off x="4696815" y="544068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vatar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535" y="5486400"/>
            <a:ext cx="868680" cy="86868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309463" y="544068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vata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5183" y="5486400"/>
            <a:ext cx="868680" cy="86868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5922111" y="544068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avatar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7831" y="5486400"/>
            <a:ext cx="868680" cy="86868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6534759" y="544068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avatar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0479" y="5486400"/>
            <a:ext cx="868680" cy="868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0" y="6446520"/>
            <a:ext cx="12191695" cy="234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sz="1350" b="0">
                <a:solidFill>
                  <a:srgbClr val="CBD6EA"/>
                </a:solidFill>
                <a:latin typeface="Arial"/>
                <a:cs typeface="Arial"/>
              </a:rPr>
              <a:t>مجتمع طلابنا • تقييم 4.8 / 5</a:t>
            </a:r>
          </a:p>
        </p:txBody>
      </p:sp>
      <p:sp>
        <p:nvSpPr>
          <p:cNvPr id="30" name="Website Line"/>
          <p:cNvSpPr txBox="1"/>
          <p:nvPr/>
        </p:nvSpPr>
        <p:spPr>
          <a:xfrm>
            <a:off x="0" y="5030000"/>
            <a:ext cx="12191695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400" b="0">
                <a:solidFill>
                  <a:srgbClr val="CBD6EA"/>
                </a:solidFill>
                <a:latin typeface="Arial"/>
                <a:cs typeface="Arial"/>
              </a:rPr>
              <a:t>اعرف عنّا أكتر على ‏</a:t>
            </a:r>
            <a:r>
              <a:rPr sz="1400" b="1">
                <a:solidFill>
                  <a:srgbClr val="F3D9A6"/>
                </a:solidFill>
                <a:latin typeface="Arial"/>
                <a:cs typeface="Arial"/>
              </a:rPr>
              <a:t>ahmedhassan.pro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749808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7320" y="642620"/>
            <a:ext cx="4023360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10000"/>
              </a:lnSpc>
            </a:pPr>
            <a:r>
              <a:rPr sz="1600" b="1">
                <a:solidFill>
                  <a:srgbClr val="003078"/>
                </a:solidFill>
                <a:latin typeface="Arial"/>
                <a:cs typeface="Arial"/>
              </a:rPr>
              <a:t>أكاديمية أحمد حسن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932688"/>
            <a:ext cx="4023360" cy="166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950" b="0">
                <a:solidFill>
                  <a:srgbClr val="5B6472"/>
                </a:solidFill>
                <a:latin typeface="Arial"/>
                <a:cs typeface="Arial"/>
              </a:rPr>
              <a:t>English with Ahmed Hassan</a:t>
            </a:r>
          </a:p>
        </p:txBody>
      </p:sp>
      <p:sp>
        <p:nvSpPr>
          <p:cNvPr id="5" name="Oval 4"/>
          <p:cNvSpPr/>
          <p:nvPr/>
        </p:nvSpPr>
        <p:spPr>
          <a:xfrm>
            <a:off x="10927080" y="384048"/>
            <a:ext cx="786384" cy="786384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561340"/>
            <a:ext cx="786384" cy="47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742440"/>
            <a:ext cx="6720840" cy="401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2500" b="1">
                <a:solidFill>
                  <a:srgbClr val="003078"/>
                </a:solidFill>
                <a:latin typeface="Arial"/>
                <a:cs typeface="Arial"/>
              </a:rPr>
              <a:t>أول خطوة: نعرف إنت دلوقتي فين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10195560" cy="285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50" b="0">
                <a:solidFill>
                  <a:srgbClr val="5B6472"/>
                </a:solidFill>
                <a:latin typeface="Arial"/>
                <a:cs typeface="Arial"/>
              </a:rPr>
              <a:t>من جلسة الاستشارة بنحدد مستواك على مستويات الأكاديمية، عشان نبدأ معاك من النقطة الصح ونمشي خطوة بخطوة.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36875" y="5781167"/>
            <a:ext cx="7315200" cy="658368"/>
          </a:xfrm>
          <a:prstGeom prst="roundRect">
            <a:avLst>
              <a:gd name="adj" fmla="val 18055"/>
            </a:avLst>
          </a:prstGeom>
          <a:solidFill>
            <a:srgbClr val="FFFFFF"/>
          </a:solidFill>
          <a:ln w="190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69507" y="6032182"/>
            <a:ext cx="3520440" cy="234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350" b="1">
                <a:solidFill>
                  <a:srgbClr val="003078"/>
                </a:solidFill>
                <a:latin typeface="Arial"/>
                <a:cs typeface="Arial"/>
              </a:rPr>
              <a:t>مستوى الطالب الحالي: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31947" y="5925312"/>
            <a:ext cx="3200400" cy="402336"/>
          </a:xfrm>
          <a:prstGeom prst="roundRect">
            <a:avLst>
              <a:gd name="adj" fmla="val 22727"/>
            </a:avLst>
          </a:prstGeom>
          <a:solidFill>
            <a:srgbClr val="F1F5FB"/>
          </a:solidFill>
          <a:ln w="1524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814827" y="6047105"/>
            <a:ext cx="2834640" cy="204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250" b="0">
                <a:solidFill>
                  <a:srgbClr val="9AA3B0"/>
                </a:solidFill>
                <a:latin typeface="Arial"/>
                <a:cs typeface="Arial"/>
              </a:rPr>
              <a:t>اكتب هنا…</a:t>
            </a:r>
          </a:p>
        </p:txBody>
      </p:sp>
      <p:sp>
        <p:nvSpPr>
          <p:cNvPr id="60" name="CEFR Row 1"/>
          <p:cNvSpPr/>
          <p:nvPr/>
        </p:nvSpPr>
        <p:spPr>
          <a:xfrm>
            <a:off x="548640" y="2680000"/>
            <a:ext cx="11094415" cy="66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D9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CEFR Pill 1"/>
          <p:cNvSpPr/>
          <p:nvPr/>
        </p:nvSpPr>
        <p:spPr>
          <a:xfrm>
            <a:off x="9853055" y="2800000"/>
            <a:ext cx="1550000" cy="420000"/>
          </a:xfrm>
          <a:prstGeom prst="roundRect">
            <a:avLst>
              <a:gd name="adj" fmla="val 50000"/>
            </a:avLst>
          </a:prstGeom>
          <a:solidFill>
            <a:srgbClr val="6E86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CEFR Label 1"/>
          <p:cNvSpPr txBox="1"/>
          <p:nvPr/>
        </p:nvSpPr>
        <p:spPr>
          <a:xfrm>
            <a:off x="9853055" y="2905000"/>
            <a:ext cx="155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50" b="1" dirty="0" err="1">
                <a:solidFill>
                  <a:srgbClr val="FFFFFF"/>
                </a:solidFill>
                <a:latin typeface="Arial"/>
                <a:cs typeface="Arial"/>
              </a:rPr>
              <a:t>مبتدئ</a:t>
            </a: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 ·‏ A1</a:t>
            </a:r>
          </a:p>
        </p:txBody>
      </p:sp>
      <p:sp>
        <p:nvSpPr>
          <p:cNvPr id="63" name="Academy Levels 1"/>
          <p:cNvSpPr txBox="1"/>
          <p:nvPr/>
        </p:nvSpPr>
        <p:spPr>
          <a:xfrm>
            <a:off x="6500000" y="2895000"/>
            <a:ext cx="29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250" b="1">
                <a:solidFill>
                  <a:srgbClr val="003078"/>
                </a:solidFill>
                <a:latin typeface="Arial"/>
                <a:cs typeface="Arial"/>
              </a:rPr>
              <a:t>Starter 1 · 2 · 3</a:t>
            </a:r>
          </a:p>
        </p:txBody>
      </p:sp>
      <p:sp>
        <p:nvSpPr>
          <p:cNvPr id="64" name="Can Do 1"/>
          <p:cNvSpPr txBox="1"/>
          <p:nvPr/>
        </p:nvSpPr>
        <p:spPr>
          <a:xfrm>
            <a:off x="828640" y="2800000"/>
            <a:ext cx="5905792" cy="27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بتفهم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وبتستخدم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تعبيرات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يومية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بسيطة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—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بتعرّف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عن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نفسك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وبتتعامل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في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المواقف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الأساسية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65" name="CEFR Row 2"/>
          <p:cNvSpPr/>
          <p:nvPr/>
        </p:nvSpPr>
        <p:spPr>
          <a:xfrm>
            <a:off x="548640" y="3430000"/>
            <a:ext cx="11094415" cy="66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D9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CEFR Pill 2"/>
          <p:cNvSpPr/>
          <p:nvPr/>
        </p:nvSpPr>
        <p:spPr>
          <a:xfrm>
            <a:off x="9853055" y="3550000"/>
            <a:ext cx="1550000" cy="420000"/>
          </a:xfrm>
          <a:prstGeom prst="roundRect">
            <a:avLst>
              <a:gd name="adj" fmla="val 50000"/>
            </a:avLst>
          </a:prstGeom>
          <a:solidFill>
            <a:srgbClr val="3E5C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CEFR Label 2"/>
          <p:cNvSpPr txBox="1"/>
          <p:nvPr/>
        </p:nvSpPr>
        <p:spPr>
          <a:xfrm>
            <a:off x="9853055" y="3655000"/>
            <a:ext cx="155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  <a:cs typeface="Arial"/>
              </a:rPr>
              <a:t>أساسي ·‏ A2</a:t>
            </a:r>
          </a:p>
        </p:txBody>
      </p:sp>
      <p:sp>
        <p:nvSpPr>
          <p:cNvPr id="68" name="Academy Levels 2"/>
          <p:cNvSpPr txBox="1"/>
          <p:nvPr/>
        </p:nvSpPr>
        <p:spPr>
          <a:xfrm>
            <a:off x="6500000" y="3645000"/>
            <a:ext cx="29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250" b="1" dirty="0">
                <a:solidFill>
                  <a:srgbClr val="003078"/>
                </a:solidFill>
                <a:latin typeface="Arial"/>
                <a:cs typeface="Arial"/>
              </a:rPr>
              <a:t>General 1 · 2 · 3</a:t>
            </a:r>
          </a:p>
        </p:txBody>
      </p:sp>
      <p:sp>
        <p:nvSpPr>
          <p:cNvPr id="69" name="Can Do 2"/>
          <p:cNvSpPr txBox="1"/>
          <p:nvPr/>
        </p:nvSpPr>
        <p:spPr>
          <a:xfrm>
            <a:off x="548640" y="3550000"/>
            <a:ext cx="5880000" cy="27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بتفهم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الجمل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الشائعة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في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الشغل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والحياة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اليومية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—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وبتتواصل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في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المواقف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المباشرة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بسهولة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70" name="CEFR Row 3"/>
          <p:cNvSpPr/>
          <p:nvPr/>
        </p:nvSpPr>
        <p:spPr>
          <a:xfrm>
            <a:off x="548640" y="4180000"/>
            <a:ext cx="11094415" cy="66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D9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CEFR Pill 3"/>
          <p:cNvSpPr/>
          <p:nvPr/>
        </p:nvSpPr>
        <p:spPr>
          <a:xfrm>
            <a:off x="9853055" y="4300000"/>
            <a:ext cx="1550000" cy="420000"/>
          </a:xfrm>
          <a:prstGeom prst="roundRect">
            <a:avLst>
              <a:gd name="adj" fmla="val 50000"/>
            </a:avLst>
          </a:prstGeom>
          <a:solidFill>
            <a:srgbClr val="0B2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CEFR Label 3"/>
          <p:cNvSpPr txBox="1"/>
          <p:nvPr/>
        </p:nvSpPr>
        <p:spPr>
          <a:xfrm>
            <a:off x="9853055" y="4405000"/>
            <a:ext cx="155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  <a:cs typeface="Arial"/>
              </a:rPr>
              <a:t>متوسط ·‏ B1</a:t>
            </a:r>
          </a:p>
        </p:txBody>
      </p:sp>
      <p:sp>
        <p:nvSpPr>
          <p:cNvPr id="73" name="Academy Levels 3"/>
          <p:cNvSpPr txBox="1"/>
          <p:nvPr/>
        </p:nvSpPr>
        <p:spPr>
          <a:xfrm>
            <a:off x="6500000" y="4395000"/>
            <a:ext cx="29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250" b="1">
                <a:solidFill>
                  <a:srgbClr val="003078"/>
                </a:solidFill>
                <a:latin typeface="Arial"/>
                <a:cs typeface="Arial"/>
              </a:rPr>
              <a:t>General 4 · 5 + Conversation 1 · 2</a:t>
            </a:r>
          </a:p>
        </p:txBody>
      </p:sp>
      <p:sp>
        <p:nvSpPr>
          <p:cNvPr id="74" name="Can Do 3"/>
          <p:cNvSpPr txBox="1"/>
          <p:nvPr/>
        </p:nvSpPr>
        <p:spPr>
          <a:xfrm>
            <a:off x="172995" y="4318927"/>
            <a:ext cx="6255645" cy="312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بتمسك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النقاط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الرئيسية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في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أي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كلام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واضح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وبتعبّر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عن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رأيك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وخططك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وتجاربك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75" name="CEFR Row 4"/>
          <p:cNvSpPr/>
          <p:nvPr/>
        </p:nvSpPr>
        <p:spPr>
          <a:xfrm>
            <a:off x="548640" y="4930000"/>
            <a:ext cx="11094415" cy="66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D9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CEFR Pill 4"/>
          <p:cNvSpPr/>
          <p:nvPr/>
        </p:nvSpPr>
        <p:spPr>
          <a:xfrm>
            <a:off x="9853055" y="5050000"/>
            <a:ext cx="1550000" cy="420000"/>
          </a:xfrm>
          <a:prstGeom prst="roundRect">
            <a:avLst>
              <a:gd name="adj" fmla="val 50000"/>
            </a:avLst>
          </a:prstGeom>
          <a:solidFill>
            <a:srgbClr val="D818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CEFR Label 4"/>
          <p:cNvSpPr txBox="1"/>
          <p:nvPr/>
        </p:nvSpPr>
        <p:spPr>
          <a:xfrm>
            <a:off x="9853055" y="5155000"/>
            <a:ext cx="155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  <a:cs typeface="Arial"/>
              </a:rPr>
              <a:t>متوسط متقدم ·‏ B2</a:t>
            </a:r>
          </a:p>
        </p:txBody>
      </p:sp>
      <p:sp>
        <p:nvSpPr>
          <p:cNvPr id="78" name="Academy Levels 4"/>
          <p:cNvSpPr txBox="1"/>
          <p:nvPr/>
        </p:nvSpPr>
        <p:spPr>
          <a:xfrm>
            <a:off x="6500000" y="5145000"/>
            <a:ext cx="29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250" b="1">
                <a:solidFill>
                  <a:srgbClr val="003078"/>
                </a:solidFill>
                <a:latin typeface="Arial"/>
                <a:cs typeface="Arial"/>
              </a:rPr>
              <a:t>Conversation 3 · 4 · 5</a:t>
            </a:r>
          </a:p>
        </p:txBody>
      </p:sp>
      <p:sp>
        <p:nvSpPr>
          <p:cNvPr id="79" name="Can Do 4"/>
          <p:cNvSpPr txBox="1"/>
          <p:nvPr/>
        </p:nvSpPr>
        <p:spPr>
          <a:xfrm>
            <a:off x="548640" y="5050000"/>
            <a:ext cx="5880000" cy="312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بتفهم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النقاشات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المعقدة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وبتتكلم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بطلاقة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وعفوية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من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غير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مجهود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ولا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تحضير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749808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7320" y="642620"/>
            <a:ext cx="4023360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10000"/>
              </a:lnSpc>
            </a:pPr>
            <a:r>
              <a:rPr sz="1600" b="1">
                <a:solidFill>
                  <a:srgbClr val="003078"/>
                </a:solidFill>
                <a:latin typeface="Arial"/>
                <a:cs typeface="Arial"/>
              </a:rPr>
              <a:t>أكاديمية أحمد حسن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932688"/>
            <a:ext cx="4023360" cy="166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950" b="0">
                <a:solidFill>
                  <a:srgbClr val="5B6472"/>
                </a:solidFill>
                <a:latin typeface="Arial"/>
                <a:cs typeface="Arial"/>
              </a:rPr>
              <a:t>English with Ahmed Hassan</a:t>
            </a:r>
          </a:p>
        </p:txBody>
      </p:sp>
      <p:sp>
        <p:nvSpPr>
          <p:cNvPr id="5" name="Oval 4"/>
          <p:cNvSpPr/>
          <p:nvPr/>
        </p:nvSpPr>
        <p:spPr>
          <a:xfrm>
            <a:off x="10927080" y="384048"/>
            <a:ext cx="786384" cy="786384"/>
          </a:xfrm>
          <a:prstGeom prst="ellipse">
            <a:avLst/>
          </a:prstGeom>
          <a:solidFill>
            <a:srgbClr val="D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561340"/>
            <a:ext cx="786384" cy="47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720000"/>
            <a:ext cx="694944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900" b="1">
                <a:solidFill>
                  <a:srgbClr val="003078"/>
                </a:solidFill>
                <a:latin typeface="Arial"/>
                <a:cs typeface="Arial"/>
              </a:rPr>
              <a:t>ليه بتقف وانت بتتكلم إنجليزي؟</a:t>
            </a:r>
          </a:p>
        </p:txBody>
      </p:sp>
      <p:pic>
        <p:nvPicPr>
          <p:cNvPr id="33" name="Photo Stressed" descr="stressed m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0"/>
            <a:ext cx="3246120" cy="3931920"/>
          </a:xfrm>
          <a:prstGeom prst="roundRect">
            <a:avLst>
              <a:gd name="adj" fmla="val 4507"/>
            </a:avLst>
          </a:prstGeom>
        </p:spPr>
      </p:pic>
      <p:sp>
        <p:nvSpPr>
          <p:cNvPr id="30" name="Punchline"/>
          <p:cNvSpPr txBox="1"/>
          <p:nvPr/>
        </p:nvSpPr>
        <p:spPr>
          <a:xfrm>
            <a:off x="4160520" y="4620000"/>
            <a:ext cx="694944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003078"/>
                </a:solidFill>
                <a:latin typeface="Arial"/>
                <a:cs typeface="Arial"/>
              </a:rPr>
              <a:t>المشكلة عمرها ما كانت في معلوماتك — </a:t>
            </a:r>
            <a:r>
              <a:rPr sz="1600" b="1">
                <a:solidFill>
                  <a:srgbClr val="D81818"/>
                </a:solidFill>
                <a:latin typeface="Arial"/>
                <a:cs typeface="Arial"/>
              </a:rPr>
              <a:t>المشكلة إنك عمرك ما اتمرنت تتكلم.</a:t>
            </a:r>
          </a:p>
        </p:txBody>
      </p:sp>
      <p:sp>
        <p:nvSpPr>
          <p:cNvPr id="31" name="CTA Pill"/>
          <p:cNvSpPr/>
          <p:nvPr/>
        </p:nvSpPr>
        <p:spPr>
          <a:xfrm>
            <a:off x="5485240" y="5520000"/>
            <a:ext cx="4300000" cy="560000"/>
          </a:xfrm>
          <a:prstGeom prst="roundRect">
            <a:avLst>
              <a:gd name="adj" fmla="val 50000"/>
            </a:avLst>
          </a:prstGeom>
          <a:solidFill>
            <a:srgbClr val="D818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TA Text"/>
          <p:cNvSpPr txBox="1"/>
          <p:nvPr/>
        </p:nvSpPr>
        <p:spPr>
          <a:xfrm>
            <a:off x="5485240" y="5680000"/>
            <a:ext cx="43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  <a:cs typeface="Arial"/>
              </a:rPr>
              <a:t>بطّل تفكير في المشكلة… وابدأ اتكلم</a:t>
            </a:r>
          </a:p>
        </p:txBody>
      </p:sp>
      <p:sp>
        <p:nvSpPr>
          <p:cNvPr id="20" name="Sub Shock"/>
          <p:cNvSpPr txBox="1"/>
          <p:nvPr/>
        </p:nvSpPr>
        <p:spPr>
          <a:xfrm>
            <a:off x="4160520" y="2380000"/>
            <a:ext cx="694944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400" b="0">
                <a:solidFill>
                  <a:srgbClr val="5B6472"/>
                </a:solidFill>
                <a:latin typeface="Arial"/>
                <a:cs typeface="Arial"/>
              </a:rPr>
              <a:t>إيه اللي بيوقفك لما تيجي تتكلم؟ اختار إجابتك:</a:t>
            </a:r>
          </a:p>
        </p:txBody>
      </p:sp>
      <p:sp>
        <p:nvSpPr>
          <p:cNvPr id="21" name="Option Card 1"/>
          <p:cNvSpPr/>
          <p:nvPr/>
        </p:nvSpPr>
        <p:spPr>
          <a:xfrm>
            <a:off x="8893480" y="2950000"/>
            <a:ext cx="2216480" cy="1450000"/>
          </a:xfrm>
          <a:prstGeom prst="roundRect">
            <a:avLst>
              <a:gd name="adj" fmla="val 8000"/>
            </a:avLst>
          </a:prstGeom>
          <a:solidFill>
            <a:srgbClr val="0B2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ption Badge 1"/>
          <p:cNvSpPr/>
          <p:nvPr/>
        </p:nvSpPr>
        <p:spPr>
          <a:xfrm>
            <a:off x="9791720" y="3140000"/>
            <a:ext cx="420000" cy="420000"/>
          </a:xfrm>
          <a:prstGeom prst="ellipse">
            <a:avLst/>
          </a:prstGeom>
          <a:solidFill>
            <a:srgbClr val="D818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ption Num 1"/>
          <p:cNvSpPr txBox="1"/>
          <p:nvPr/>
        </p:nvSpPr>
        <p:spPr>
          <a:xfrm>
            <a:off x="9791720" y="3220000"/>
            <a:ext cx="42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4" name="Option Title 1"/>
          <p:cNvSpPr txBox="1"/>
          <p:nvPr/>
        </p:nvSpPr>
        <p:spPr>
          <a:xfrm>
            <a:off x="9013480" y="3690000"/>
            <a:ext cx="197648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</a:rPr>
              <a:t>القواعد والكلمات</a:t>
            </a:r>
          </a:p>
        </p:txBody>
      </p:sp>
      <p:sp>
        <p:nvSpPr>
          <p:cNvPr id="25" name="Option Desc 1"/>
          <p:cNvSpPr txBox="1"/>
          <p:nvPr/>
        </p:nvSpPr>
        <p:spPr>
          <a:xfrm>
            <a:off x="9013480" y="4040000"/>
            <a:ext cx="19764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50" b="0">
                <a:solidFill>
                  <a:srgbClr val="9FB2D0"/>
                </a:solidFill>
                <a:latin typeface="Arial"/>
                <a:cs typeface="Arial"/>
              </a:rPr>
              <a:t>حاسس إن اللي في دماغك مش كفاية</a:t>
            </a:r>
          </a:p>
        </p:txBody>
      </p:sp>
      <p:sp>
        <p:nvSpPr>
          <p:cNvPr id="26" name="Option Card 2"/>
          <p:cNvSpPr/>
          <p:nvPr/>
        </p:nvSpPr>
        <p:spPr>
          <a:xfrm>
            <a:off x="6527000" y="2950000"/>
            <a:ext cx="2216480" cy="1450000"/>
          </a:xfrm>
          <a:prstGeom prst="roundRect">
            <a:avLst>
              <a:gd name="adj" fmla="val 8000"/>
            </a:avLst>
          </a:prstGeom>
          <a:solidFill>
            <a:srgbClr val="0B2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ption Badge 2"/>
          <p:cNvSpPr/>
          <p:nvPr/>
        </p:nvSpPr>
        <p:spPr>
          <a:xfrm>
            <a:off x="7425240" y="3140000"/>
            <a:ext cx="420000" cy="420000"/>
          </a:xfrm>
          <a:prstGeom prst="ellipse">
            <a:avLst/>
          </a:prstGeom>
          <a:solidFill>
            <a:srgbClr val="D818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ption Num 2"/>
          <p:cNvSpPr txBox="1"/>
          <p:nvPr/>
        </p:nvSpPr>
        <p:spPr>
          <a:xfrm>
            <a:off x="7425240" y="3220000"/>
            <a:ext cx="42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9" name="Option Title 2"/>
          <p:cNvSpPr txBox="1"/>
          <p:nvPr/>
        </p:nvSpPr>
        <p:spPr>
          <a:xfrm>
            <a:off x="6647000" y="3690000"/>
            <a:ext cx="197648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</a:rPr>
              <a:t>مش بتعيش إنجليزي كل يوم</a:t>
            </a:r>
          </a:p>
        </p:txBody>
      </p:sp>
      <p:sp>
        <p:nvSpPr>
          <p:cNvPr id="8" name="Option Desc 2"/>
          <p:cNvSpPr txBox="1"/>
          <p:nvPr/>
        </p:nvSpPr>
        <p:spPr>
          <a:xfrm>
            <a:off x="6647000" y="4040000"/>
            <a:ext cx="19764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50" b="0">
                <a:solidFill>
                  <a:srgbClr val="9FB2D0"/>
                </a:solidFill>
                <a:latin typeface="Arial"/>
                <a:cs typeface="Arial"/>
              </a:rPr>
              <a:t>بتذاكر اللغة بس مش بتستخدمها</a:t>
            </a:r>
          </a:p>
        </p:txBody>
      </p:sp>
      <p:sp>
        <p:nvSpPr>
          <p:cNvPr id="9" name="Option Card 3"/>
          <p:cNvSpPr/>
          <p:nvPr/>
        </p:nvSpPr>
        <p:spPr>
          <a:xfrm>
            <a:off x="4160520" y="2950000"/>
            <a:ext cx="2216480" cy="1450000"/>
          </a:xfrm>
          <a:prstGeom prst="roundRect">
            <a:avLst>
              <a:gd name="adj" fmla="val 8000"/>
            </a:avLst>
          </a:prstGeom>
          <a:solidFill>
            <a:srgbClr val="0B2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ption Badge 3"/>
          <p:cNvSpPr/>
          <p:nvPr/>
        </p:nvSpPr>
        <p:spPr>
          <a:xfrm>
            <a:off x="5058760" y="3140000"/>
            <a:ext cx="420000" cy="420000"/>
          </a:xfrm>
          <a:prstGeom prst="ellipse">
            <a:avLst/>
          </a:prstGeom>
          <a:solidFill>
            <a:srgbClr val="D818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ption Num 3"/>
          <p:cNvSpPr txBox="1"/>
          <p:nvPr/>
        </p:nvSpPr>
        <p:spPr>
          <a:xfrm>
            <a:off x="5058760" y="3220000"/>
            <a:ext cx="42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4" name="Option Title 3"/>
          <p:cNvSpPr txBox="1"/>
          <p:nvPr/>
        </p:nvSpPr>
        <p:spPr>
          <a:xfrm>
            <a:off x="4280520" y="3690000"/>
            <a:ext cx="197648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</a:rPr>
              <a:t>الخوف من الغلط</a:t>
            </a:r>
          </a:p>
        </p:txBody>
      </p:sp>
      <p:sp>
        <p:nvSpPr>
          <p:cNvPr id="35" name="Option Desc 3"/>
          <p:cNvSpPr txBox="1"/>
          <p:nvPr/>
        </p:nvSpPr>
        <p:spPr>
          <a:xfrm>
            <a:off x="4280520" y="4040000"/>
            <a:ext cx="19764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50" b="0">
                <a:solidFill>
                  <a:srgbClr val="9FB2D0"/>
                </a:solidFill>
                <a:latin typeface="Arial"/>
                <a:cs typeface="Arial"/>
              </a:rPr>
              <a:t>بتفكر ألف مرة قبل ما تنطق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749808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7320" y="642620"/>
            <a:ext cx="4023360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10000"/>
              </a:lnSpc>
            </a:pPr>
            <a:r>
              <a:rPr sz="1600" b="1">
                <a:solidFill>
                  <a:srgbClr val="003078"/>
                </a:solidFill>
                <a:latin typeface="Arial"/>
                <a:cs typeface="Arial"/>
              </a:rPr>
              <a:t>أكاديمية أحمد حسن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932688"/>
            <a:ext cx="4023360" cy="166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950" b="0">
                <a:solidFill>
                  <a:srgbClr val="5B6472"/>
                </a:solidFill>
                <a:latin typeface="Arial"/>
                <a:cs typeface="Arial"/>
              </a:rPr>
              <a:t>English with Ahmed Hassan</a:t>
            </a:r>
          </a:p>
        </p:txBody>
      </p:sp>
      <p:sp>
        <p:nvSpPr>
          <p:cNvPr id="5" name="Oval 4"/>
          <p:cNvSpPr/>
          <p:nvPr/>
        </p:nvSpPr>
        <p:spPr>
          <a:xfrm>
            <a:off x="10927080" y="384048"/>
            <a:ext cx="786384" cy="786384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561340"/>
            <a:ext cx="786384" cy="47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4852" y="665550"/>
            <a:ext cx="6720840" cy="6338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4000" b="1" dirty="0" err="1">
                <a:solidFill>
                  <a:srgbClr val="003078"/>
                </a:solidFill>
                <a:latin typeface="Arial"/>
                <a:cs typeface="Arial"/>
              </a:rPr>
              <a:t>سر</a:t>
            </a:r>
            <a:r>
              <a:rPr sz="40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4000" b="1" dirty="0" err="1">
                <a:solidFill>
                  <a:srgbClr val="003078"/>
                </a:solidFill>
                <a:latin typeface="Arial"/>
                <a:cs typeface="Arial"/>
              </a:rPr>
              <a:t>الطلاقة</a:t>
            </a:r>
            <a:r>
              <a:rPr sz="4000" b="1" dirty="0">
                <a:solidFill>
                  <a:srgbClr val="003078"/>
                </a:solidFill>
                <a:latin typeface="Arial"/>
                <a:cs typeface="Arial"/>
              </a:rPr>
              <a:t>؟ </a:t>
            </a:r>
            <a:r>
              <a:rPr sz="4000" b="1" dirty="0" err="1">
                <a:solidFill>
                  <a:srgbClr val="003078"/>
                </a:solidFill>
                <a:latin typeface="Arial"/>
                <a:cs typeface="Arial"/>
              </a:rPr>
              <a:t>إنك</a:t>
            </a:r>
            <a:r>
              <a:rPr sz="40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4000" b="1" dirty="0" err="1">
                <a:solidFill>
                  <a:srgbClr val="003078"/>
                </a:solidFill>
                <a:latin typeface="Arial"/>
                <a:cs typeface="Arial"/>
              </a:rPr>
              <a:t>تتكلم</a:t>
            </a:r>
            <a:r>
              <a:rPr sz="40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4000" b="1" dirty="0" err="1">
                <a:solidFill>
                  <a:srgbClr val="003078"/>
                </a:solidFill>
                <a:latin typeface="Arial"/>
                <a:cs typeface="Arial"/>
              </a:rPr>
              <a:t>كل</a:t>
            </a:r>
            <a:r>
              <a:rPr sz="40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4000" b="1" dirty="0" err="1">
                <a:solidFill>
                  <a:srgbClr val="003078"/>
                </a:solidFill>
                <a:latin typeface="Arial"/>
                <a:cs typeface="Arial"/>
              </a:rPr>
              <a:t>يوم</a:t>
            </a:r>
            <a:r>
              <a:rPr lang="ar-SA" sz="4000" b="1" dirty="0">
                <a:solidFill>
                  <a:srgbClr val="003078"/>
                </a:solidFill>
                <a:latin typeface="Arial"/>
                <a:cs typeface="Arial"/>
              </a:rPr>
              <a:t>؟؟؟</a:t>
            </a:r>
            <a:endParaRPr sz="4000" b="1" dirty="0">
              <a:solidFill>
                <a:srgbClr val="003078"/>
              </a:solidFill>
              <a:latin typeface="Arial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01952" y="1638786"/>
            <a:ext cx="8711512" cy="1007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2400" b="0" dirty="0" err="1">
                <a:solidFill>
                  <a:srgbClr val="FF0000"/>
                </a:solidFill>
                <a:latin typeface="Arial"/>
                <a:cs typeface="Arial"/>
              </a:rPr>
              <a:t>لما</a:t>
            </a:r>
            <a:r>
              <a:rPr sz="24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0" dirty="0" err="1">
                <a:solidFill>
                  <a:srgbClr val="FF0000"/>
                </a:solidFill>
                <a:latin typeface="Arial"/>
                <a:cs typeface="Arial"/>
              </a:rPr>
              <a:t>تتمرن</a:t>
            </a:r>
            <a:r>
              <a:rPr sz="24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0" dirty="0" err="1">
                <a:solidFill>
                  <a:srgbClr val="FF0000"/>
                </a:solidFill>
                <a:latin typeface="Arial"/>
                <a:cs typeface="Arial"/>
              </a:rPr>
              <a:t>كل</a:t>
            </a:r>
            <a:r>
              <a:rPr sz="24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0" dirty="0" err="1">
                <a:solidFill>
                  <a:srgbClr val="FF0000"/>
                </a:solidFill>
                <a:latin typeface="Arial"/>
                <a:cs typeface="Arial"/>
              </a:rPr>
              <a:t>يوم</a:t>
            </a:r>
            <a:r>
              <a:rPr sz="2400" b="0" dirty="0">
                <a:solidFill>
                  <a:srgbClr val="FF0000"/>
                </a:solidFill>
                <a:latin typeface="Arial"/>
                <a:cs typeface="Arial"/>
              </a:rPr>
              <a:t>،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مخك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بيتعوّد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يفكر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بالإنجليزي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على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طول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FF0000"/>
                </a:solidFill>
                <a:latin typeface="Arial"/>
                <a:cs typeface="Arial"/>
              </a:rPr>
              <a:t>— </a:t>
            </a:r>
            <a:r>
              <a:rPr sz="2400" b="0" dirty="0" err="1">
                <a:solidFill>
                  <a:srgbClr val="FF0000"/>
                </a:solidFill>
                <a:latin typeface="Arial"/>
                <a:cs typeface="Arial"/>
              </a:rPr>
              <a:t>من</a:t>
            </a:r>
            <a:r>
              <a:rPr sz="24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0" dirty="0" err="1">
                <a:solidFill>
                  <a:srgbClr val="FF0000"/>
                </a:solidFill>
                <a:latin typeface="Arial"/>
                <a:cs typeface="Arial"/>
              </a:rPr>
              <a:t>غير</a:t>
            </a:r>
            <a:r>
              <a:rPr sz="24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0" dirty="0" err="1">
                <a:solidFill>
                  <a:srgbClr val="FF0000"/>
                </a:solidFill>
                <a:latin typeface="Arial"/>
                <a:cs typeface="Arial"/>
              </a:rPr>
              <a:t>ترجمة</a:t>
            </a:r>
            <a:r>
              <a:rPr sz="24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0" dirty="0" err="1">
                <a:solidFill>
                  <a:srgbClr val="FF0000"/>
                </a:solidFill>
                <a:latin typeface="Arial"/>
                <a:cs typeface="Arial"/>
              </a:rPr>
              <a:t>ولا</a:t>
            </a:r>
            <a:r>
              <a:rPr sz="24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0" dirty="0" err="1">
                <a:solidFill>
                  <a:srgbClr val="FF0000"/>
                </a:solidFill>
                <a:latin typeface="Arial"/>
                <a:cs typeface="Arial"/>
              </a:rPr>
              <a:t>لخبطة</a:t>
            </a:r>
            <a:r>
              <a:rPr sz="2400" b="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  <a:p>
            <a:pPr algn="r" rtl="1">
              <a:lnSpc>
                <a:spcPct val="145000"/>
              </a:lnSpc>
            </a:pP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هي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دي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نفس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الطريقة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اللي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اتعلمت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بيها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لغتك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الأم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FF0000"/>
                </a:solidFill>
                <a:latin typeface="Arial"/>
                <a:cs typeface="Arial"/>
              </a:rPr>
              <a:t>— </a:t>
            </a:r>
            <a:r>
              <a:rPr sz="2400" b="0" dirty="0" err="1">
                <a:solidFill>
                  <a:srgbClr val="FF0000"/>
                </a:solidFill>
                <a:latin typeface="Arial"/>
                <a:cs typeface="Arial"/>
              </a:rPr>
              <a:t>شوف</a:t>
            </a:r>
            <a:r>
              <a:rPr sz="24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0" dirty="0" err="1">
                <a:solidFill>
                  <a:srgbClr val="FF0000"/>
                </a:solidFill>
                <a:latin typeface="Arial"/>
                <a:cs typeface="Arial"/>
              </a:rPr>
              <a:t>المقارنة</a:t>
            </a:r>
            <a:r>
              <a:rPr sz="2400" b="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3246120" cy="3840480"/>
          </a:xfrm>
          <a:prstGeom prst="roundRect">
            <a:avLst>
              <a:gd name="adj" fmla="val 4507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2834639"/>
            <a:ext cx="2681416" cy="868680"/>
          </a:xfrm>
          <a:prstGeom prst="roundRect">
            <a:avLst>
              <a:gd name="adj" fmla="val 13684"/>
            </a:avLst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122929"/>
            <a:ext cx="1051560" cy="33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174047"/>
            <a:ext cx="1280160" cy="235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dirty="0" err="1">
                <a:solidFill>
                  <a:srgbClr val="FFFFFF"/>
                </a:solidFill>
                <a:latin typeface="Arial"/>
                <a:cs typeface="Arial"/>
              </a:rPr>
              <a:t>دقايق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Arial"/>
                <a:cs typeface="Arial"/>
              </a:rPr>
              <a:t>كل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Arial"/>
                <a:cs typeface="Arial"/>
              </a:rPr>
              <a:t>يوم</a:t>
            </a:r>
            <a:endParaRPr sz="13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14400" y="4023359"/>
            <a:ext cx="2681416" cy="868680"/>
          </a:xfrm>
          <a:prstGeom prst="roundRect">
            <a:avLst>
              <a:gd name="adj" fmla="val 13684"/>
            </a:avLst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311649"/>
            <a:ext cx="1051560" cy="33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Arial"/>
                <a:cs typeface="Arial"/>
              </a:rPr>
              <a:t>180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362767"/>
            <a:ext cx="1280160" cy="235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</a:rPr>
              <a:t>يوم ممارسة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399" y="5212079"/>
            <a:ext cx="2681415" cy="868680"/>
          </a:xfrm>
          <a:prstGeom prst="roundRect">
            <a:avLst>
              <a:gd name="adj" fmla="val 13684"/>
            </a:avLst>
          </a:prstGeom>
          <a:solidFill>
            <a:srgbClr val="D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500370"/>
            <a:ext cx="1051560" cy="33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Arial"/>
                <a:cs typeface="Arial"/>
              </a:rPr>
              <a:t>1800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551487"/>
            <a:ext cx="1280160" cy="235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</a:rPr>
              <a:t>دقيقة كلام</a:t>
            </a:r>
          </a:p>
        </p:txBody>
      </p:sp>
      <p:sp>
        <p:nvSpPr>
          <p:cNvPr id="23" name="Card Kid"/>
          <p:cNvSpPr/>
          <p:nvPr/>
        </p:nvSpPr>
        <p:spPr>
          <a:xfrm>
            <a:off x="8413306" y="3520000"/>
            <a:ext cx="3531211" cy="277666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19050">
            <a:solidFill>
              <a:srgbClr val="D9DEE6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Card Academy"/>
          <p:cNvSpPr/>
          <p:nvPr/>
        </p:nvSpPr>
        <p:spPr>
          <a:xfrm>
            <a:off x="3924759" y="3520000"/>
            <a:ext cx="3570817" cy="2761056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19050">
            <a:solidFill>
              <a:srgbClr val="D9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hoto Kid" descr="child learning to speak at 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031" y="3650000"/>
            <a:ext cx="3335759" cy="1398000"/>
          </a:xfrm>
          <a:prstGeom prst="roundRect">
            <a:avLst>
              <a:gd name="adj" fmla="val 8000"/>
            </a:avLst>
          </a:prstGeom>
        </p:spPr>
      </p:pic>
      <p:pic>
        <p:nvPicPr>
          <p:cNvPr id="26" name="Photo Academy" descr="students practicing convers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0519" y="3650000"/>
            <a:ext cx="3074107" cy="1398000"/>
          </a:xfrm>
          <a:prstGeom prst="roundRect">
            <a:avLst>
              <a:gd name="adj" fmla="val 8000"/>
            </a:avLst>
          </a:prstGeom>
        </p:spPr>
      </p:pic>
      <p:sp>
        <p:nvSpPr>
          <p:cNvPr id="27" name="Heading Kid"/>
          <p:cNvSpPr txBox="1"/>
          <p:nvPr/>
        </p:nvSpPr>
        <p:spPr>
          <a:xfrm>
            <a:off x="8873464" y="5165094"/>
            <a:ext cx="2840000" cy="24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00" b="1" dirty="0" err="1">
                <a:solidFill>
                  <a:srgbClr val="003078"/>
                </a:solidFill>
                <a:latin typeface="Arial"/>
                <a:cs typeface="Arial"/>
              </a:rPr>
              <a:t>الطفل</a:t>
            </a:r>
            <a:r>
              <a:rPr sz="16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003078"/>
                </a:solidFill>
                <a:latin typeface="Arial"/>
                <a:cs typeface="Arial"/>
              </a:rPr>
              <a:t>بيتعلم</a:t>
            </a:r>
            <a:r>
              <a:rPr sz="16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003078"/>
                </a:solidFill>
                <a:latin typeface="Arial"/>
                <a:cs typeface="Arial"/>
              </a:rPr>
              <a:t>العربي</a:t>
            </a:r>
            <a:r>
              <a:rPr sz="16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003078"/>
                </a:solidFill>
                <a:latin typeface="Arial"/>
                <a:cs typeface="Arial"/>
              </a:rPr>
              <a:t>إزاي</a:t>
            </a:r>
            <a:r>
              <a:rPr sz="1600" b="1" dirty="0">
                <a:solidFill>
                  <a:srgbClr val="003078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28" name="Body Kid"/>
          <p:cNvSpPr txBox="1"/>
          <p:nvPr/>
        </p:nvSpPr>
        <p:spPr>
          <a:xfrm>
            <a:off x="8543307" y="5553100"/>
            <a:ext cx="3205759" cy="606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0" dirty="0" err="1">
                <a:solidFill>
                  <a:srgbClr val="5B6472"/>
                </a:solidFill>
                <a:latin typeface="Arial"/>
                <a:cs typeface="Arial"/>
              </a:rPr>
              <a:t>بيسمع</a:t>
            </a:r>
            <a:r>
              <a:rPr sz="16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5B6472"/>
                </a:solidFill>
                <a:latin typeface="Arial"/>
                <a:cs typeface="Arial"/>
              </a:rPr>
              <a:t>اللي</a:t>
            </a:r>
            <a:r>
              <a:rPr sz="16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5B6472"/>
                </a:solidFill>
                <a:latin typeface="Arial"/>
                <a:cs typeface="Arial"/>
              </a:rPr>
              <a:t>حواليه</a:t>
            </a:r>
            <a:r>
              <a:rPr sz="16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5B6472"/>
                </a:solidFill>
                <a:latin typeface="Arial"/>
                <a:cs typeface="Arial"/>
              </a:rPr>
              <a:t>وبيتكلم</a:t>
            </a:r>
            <a:r>
              <a:rPr sz="16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5B6472"/>
                </a:solidFill>
                <a:latin typeface="Arial"/>
                <a:cs typeface="Arial"/>
              </a:rPr>
              <a:t>كل</a:t>
            </a:r>
            <a:r>
              <a:rPr sz="16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5B6472"/>
                </a:solidFill>
                <a:latin typeface="Arial"/>
                <a:cs typeface="Arial"/>
              </a:rPr>
              <a:t>يوم</a:t>
            </a:r>
            <a:r>
              <a:rPr sz="1600" b="0" dirty="0">
                <a:solidFill>
                  <a:srgbClr val="5B6472"/>
                </a:solidFill>
                <a:latin typeface="Arial"/>
                <a:cs typeface="Arial"/>
              </a:rPr>
              <a:t> — </a:t>
            </a:r>
            <a:r>
              <a:rPr sz="1600" b="0" dirty="0" err="1">
                <a:solidFill>
                  <a:srgbClr val="5B6472"/>
                </a:solidFill>
                <a:latin typeface="Arial"/>
                <a:cs typeface="Arial"/>
              </a:rPr>
              <a:t>من</a:t>
            </a:r>
            <a:r>
              <a:rPr sz="16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5B6472"/>
                </a:solidFill>
                <a:latin typeface="Arial"/>
                <a:cs typeface="Arial"/>
              </a:rPr>
              <a:t>غير</a:t>
            </a:r>
            <a:r>
              <a:rPr sz="16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5B6472"/>
                </a:solidFill>
                <a:latin typeface="Arial"/>
                <a:cs typeface="Arial"/>
              </a:rPr>
              <a:t>قواعد</a:t>
            </a:r>
            <a:r>
              <a:rPr sz="16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5B6472"/>
                </a:solidFill>
                <a:latin typeface="Arial"/>
                <a:cs typeface="Arial"/>
              </a:rPr>
              <a:t>ولا</a:t>
            </a:r>
            <a:r>
              <a:rPr sz="16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5B6472"/>
                </a:solidFill>
                <a:latin typeface="Arial"/>
                <a:cs typeface="Arial"/>
              </a:rPr>
              <a:t>ترجمة</a:t>
            </a:r>
            <a:r>
              <a:rPr sz="1600" b="0" dirty="0">
                <a:solidFill>
                  <a:srgbClr val="5B6472"/>
                </a:solidFill>
                <a:latin typeface="Arial"/>
                <a:cs typeface="Arial"/>
              </a:rPr>
              <a:t> — </a:t>
            </a:r>
            <a:r>
              <a:rPr sz="1600" b="0" dirty="0" err="1">
                <a:solidFill>
                  <a:srgbClr val="5B6472"/>
                </a:solidFill>
                <a:latin typeface="Arial"/>
                <a:cs typeface="Arial"/>
              </a:rPr>
              <a:t>لحد</a:t>
            </a:r>
            <a:r>
              <a:rPr sz="16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5B6472"/>
                </a:solidFill>
                <a:latin typeface="Arial"/>
                <a:cs typeface="Arial"/>
              </a:rPr>
              <a:t>ما</a:t>
            </a:r>
            <a:r>
              <a:rPr sz="16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5B6472"/>
                </a:solidFill>
                <a:latin typeface="Arial"/>
                <a:cs typeface="Arial"/>
              </a:rPr>
              <a:t>اللغة</a:t>
            </a:r>
            <a:r>
              <a:rPr sz="16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5B6472"/>
                </a:solidFill>
                <a:latin typeface="Arial"/>
                <a:cs typeface="Arial"/>
              </a:rPr>
              <a:t>تبقى</a:t>
            </a:r>
            <a:r>
              <a:rPr sz="16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5B6472"/>
                </a:solidFill>
                <a:latin typeface="Arial"/>
                <a:cs typeface="Arial"/>
              </a:rPr>
              <a:t>طبيعته</a:t>
            </a:r>
            <a:r>
              <a:rPr sz="1600" b="0" dirty="0">
                <a:solidFill>
                  <a:srgbClr val="5B6472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29" name="Heading Academy"/>
          <p:cNvSpPr txBox="1"/>
          <p:nvPr/>
        </p:nvSpPr>
        <p:spPr>
          <a:xfrm>
            <a:off x="4517708" y="5129133"/>
            <a:ext cx="2840000" cy="281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وإنت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بتتعلم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الإنجليزي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معانا</a:t>
            </a:r>
            <a:endParaRPr b="1" dirty="0">
              <a:solidFill>
                <a:srgbClr val="003078"/>
              </a:solidFill>
              <a:latin typeface="Arial"/>
              <a:cs typeface="Arial"/>
            </a:endParaRPr>
          </a:p>
        </p:txBody>
      </p:sp>
      <p:sp>
        <p:nvSpPr>
          <p:cNvPr id="30" name="Body Academy"/>
          <p:cNvSpPr txBox="1"/>
          <p:nvPr/>
        </p:nvSpPr>
        <p:spPr>
          <a:xfrm>
            <a:off x="4290519" y="5510686"/>
            <a:ext cx="2970000" cy="530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0" dirty="0" err="1">
                <a:solidFill>
                  <a:srgbClr val="5B6472"/>
                </a:solidFill>
                <a:latin typeface="Arial"/>
                <a:cs typeface="Arial"/>
              </a:rPr>
              <a:t>بتسمع</a:t>
            </a:r>
            <a:r>
              <a:rPr sz="14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dirty="0" err="1">
                <a:solidFill>
                  <a:srgbClr val="5B6472"/>
                </a:solidFill>
                <a:latin typeface="Arial"/>
                <a:cs typeface="Arial"/>
              </a:rPr>
              <a:t>وبتتكلم</a:t>
            </a:r>
            <a:r>
              <a:rPr sz="14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dirty="0" err="1">
                <a:solidFill>
                  <a:srgbClr val="5B6472"/>
                </a:solidFill>
                <a:latin typeface="Arial"/>
                <a:cs typeface="Arial"/>
              </a:rPr>
              <a:t>إنجليزي</a:t>
            </a:r>
            <a:r>
              <a:rPr sz="14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dirty="0" err="1">
                <a:solidFill>
                  <a:srgbClr val="5B6472"/>
                </a:solidFill>
                <a:latin typeface="Arial"/>
                <a:cs typeface="Arial"/>
              </a:rPr>
              <a:t>كل</a:t>
            </a:r>
            <a:r>
              <a:rPr sz="14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dirty="0" err="1">
                <a:solidFill>
                  <a:srgbClr val="5B6472"/>
                </a:solidFill>
                <a:latin typeface="Arial"/>
                <a:cs typeface="Arial"/>
              </a:rPr>
              <a:t>يوم</a:t>
            </a:r>
            <a:r>
              <a:rPr sz="1400" b="0" dirty="0">
                <a:solidFill>
                  <a:srgbClr val="5B6472"/>
                </a:solidFill>
                <a:latin typeface="Arial"/>
                <a:cs typeface="Arial"/>
              </a:rPr>
              <a:t> — </a:t>
            </a:r>
            <a:r>
              <a:rPr sz="1400" b="0" dirty="0" err="1">
                <a:solidFill>
                  <a:srgbClr val="5B6472"/>
                </a:solidFill>
                <a:latin typeface="Arial"/>
                <a:cs typeface="Arial"/>
              </a:rPr>
              <a:t>جلسات</a:t>
            </a:r>
            <a:r>
              <a:rPr sz="14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dirty="0" err="1">
                <a:solidFill>
                  <a:srgbClr val="5B6472"/>
                </a:solidFill>
                <a:latin typeface="Arial"/>
                <a:cs typeface="Arial"/>
              </a:rPr>
              <a:t>لايف</a:t>
            </a:r>
            <a:r>
              <a:rPr sz="14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dirty="0" err="1">
                <a:solidFill>
                  <a:srgbClr val="5B6472"/>
                </a:solidFill>
                <a:latin typeface="Arial"/>
                <a:cs typeface="Arial"/>
              </a:rPr>
              <a:t>ومكالمات</a:t>
            </a:r>
            <a:r>
              <a:rPr sz="14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dirty="0" err="1">
                <a:solidFill>
                  <a:srgbClr val="5B6472"/>
                </a:solidFill>
                <a:latin typeface="Arial"/>
                <a:cs typeface="Arial"/>
              </a:rPr>
              <a:t>وتاسكات</a:t>
            </a:r>
            <a:r>
              <a:rPr sz="1400" b="0" dirty="0">
                <a:solidFill>
                  <a:srgbClr val="5B6472"/>
                </a:solidFill>
                <a:latin typeface="Arial"/>
                <a:cs typeface="Arial"/>
              </a:rPr>
              <a:t> — </a:t>
            </a:r>
            <a:r>
              <a:rPr sz="1400" b="0" dirty="0" err="1">
                <a:solidFill>
                  <a:srgbClr val="5B6472"/>
                </a:solidFill>
                <a:latin typeface="Arial"/>
                <a:cs typeface="Arial"/>
              </a:rPr>
              <a:t>لحد</a:t>
            </a:r>
            <a:r>
              <a:rPr sz="14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dirty="0" err="1">
                <a:solidFill>
                  <a:srgbClr val="5B6472"/>
                </a:solidFill>
                <a:latin typeface="Arial"/>
                <a:cs typeface="Arial"/>
              </a:rPr>
              <a:t>ما</a:t>
            </a:r>
            <a:r>
              <a:rPr sz="14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dirty="0" err="1">
                <a:solidFill>
                  <a:srgbClr val="5B6472"/>
                </a:solidFill>
                <a:latin typeface="Arial"/>
                <a:cs typeface="Arial"/>
              </a:rPr>
              <a:t>تتكلم</a:t>
            </a:r>
            <a:r>
              <a:rPr sz="14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dirty="0" err="1">
                <a:solidFill>
                  <a:srgbClr val="5B6472"/>
                </a:solidFill>
                <a:latin typeface="Arial"/>
                <a:cs typeface="Arial"/>
              </a:rPr>
              <a:t>من</a:t>
            </a:r>
            <a:r>
              <a:rPr sz="14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dirty="0" err="1">
                <a:solidFill>
                  <a:srgbClr val="5B6472"/>
                </a:solidFill>
                <a:latin typeface="Arial"/>
                <a:cs typeface="Arial"/>
              </a:rPr>
              <a:t>غير</a:t>
            </a:r>
            <a:r>
              <a:rPr sz="14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dirty="0" err="1">
                <a:solidFill>
                  <a:srgbClr val="5B6472"/>
                </a:solidFill>
                <a:latin typeface="Arial"/>
                <a:cs typeface="Arial"/>
              </a:rPr>
              <a:t>تفكير</a:t>
            </a:r>
            <a:r>
              <a:rPr sz="1400" b="0" dirty="0">
                <a:solidFill>
                  <a:srgbClr val="5B6472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31" name="Connector Circle"/>
          <p:cNvSpPr/>
          <p:nvPr/>
        </p:nvSpPr>
        <p:spPr>
          <a:xfrm>
            <a:off x="7593304" y="4435000"/>
            <a:ext cx="820000" cy="820000"/>
          </a:xfrm>
          <a:prstGeom prst="ellipse">
            <a:avLst/>
          </a:prstGeom>
          <a:solidFill>
            <a:srgbClr val="D81818"/>
          </a:solidFill>
          <a:ln w="28575">
            <a:solidFill>
              <a:srgbClr val="F6F1E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onnector Label"/>
          <p:cNvSpPr txBox="1"/>
          <p:nvPr/>
        </p:nvSpPr>
        <p:spPr>
          <a:xfrm>
            <a:off x="7593304" y="4666830"/>
            <a:ext cx="82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050" b="1">
                <a:solidFill>
                  <a:srgbClr val="FFFFFF"/>
                </a:solidFill>
                <a:latin typeface="Arial"/>
                <a:cs typeface="Arial"/>
              </a:rPr>
              <a:t>نفس</a:t>
            </a:r>
          </a:p>
          <a:p>
            <a:pPr algn="ctr" rtl="1">
              <a:lnSpc>
                <a:spcPct val="110000"/>
              </a:lnSpc>
            </a:pPr>
            <a:r>
              <a:rPr sz="1050" b="1">
                <a:solidFill>
                  <a:srgbClr val="FFFFFF"/>
                </a:solidFill>
                <a:latin typeface="Arial"/>
                <a:cs typeface="Arial"/>
              </a:rPr>
              <a:t>الطريقة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749808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7320" y="642620"/>
            <a:ext cx="4023360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10000"/>
              </a:lnSpc>
            </a:pPr>
            <a:r>
              <a:rPr sz="1600" b="1">
                <a:solidFill>
                  <a:srgbClr val="003078"/>
                </a:solidFill>
                <a:latin typeface="Arial"/>
                <a:cs typeface="Arial"/>
              </a:rPr>
              <a:t>أكاديمية أحمد حسن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932688"/>
            <a:ext cx="4023360" cy="166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950" b="0">
                <a:solidFill>
                  <a:srgbClr val="5B6472"/>
                </a:solidFill>
                <a:latin typeface="Arial"/>
                <a:cs typeface="Arial"/>
              </a:rPr>
              <a:t>English with Ahmed Hassan</a:t>
            </a:r>
          </a:p>
        </p:txBody>
      </p:sp>
      <p:sp>
        <p:nvSpPr>
          <p:cNvPr id="5" name="Oval 4"/>
          <p:cNvSpPr/>
          <p:nvPr/>
        </p:nvSpPr>
        <p:spPr>
          <a:xfrm>
            <a:off x="10927080" y="384048"/>
            <a:ext cx="786384" cy="786384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561340"/>
            <a:ext cx="786384" cy="47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038860"/>
            <a:ext cx="6720840" cy="401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lang="ar-SA" sz="2500" b="1" dirty="0">
                <a:solidFill>
                  <a:srgbClr val="003078"/>
                </a:solidFill>
                <a:latin typeface="Arial"/>
                <a:cs typeface="Arial"/>
              </a:rPr>
              <a:t>محاضره</a:t>
            </a:r>
            <a:r>
              <a:rPr sz="25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2500" b="1" dirty="0" err="1">
                <a:solidFill>
                  <a:srgbClr val="003078"/>
                </a:solidFill>
                <a:latin typeface="Arial"/>
                <a:cs typeface="Arial"/>
              </a:rPr>
              <a:t>لايف</a:t>
            </a:r>
            <a:r>
              <a:rPr sz="25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2500" b="1" dirty="0" err="1">
                <a:solidFill>
                  <a:srgbClr val="003078"/>
                </a:solidFill>
                <a:latin typeface="Arial"/>
                <a:cs typeface="Arial"/>
              </a:rPr>
              <a:t>على</a:t>
            </a:r>
            <a:r>
              <a:rPr sz="25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2500" b="1" dirty="0" err="1">
                <a:solidFill>
                  <a:srgbClr val="003078"/>
                </a:solidFill>
                <a:latin typeface="Arial"/>
                <a:cs typeface="Arial"/>
              </a:rPr>
              <a:t>الزوم</a:t>
            </a:r>
            <a:r>
              <a:rPr sz="2500" b="1" dirty="0">
                <a:solidFill>
                  <a:srgbClr val="003078"/>
                </a:solidFill>
                <a:latin typeface="Arial"/>
                <a:cs typeface="Arial"/>
              </a:rPr>
              <a:t>… </a:t>
            </a:r>
            <a:r>
              <a:rPr sz="2500" b="1" dirty="0" err="1">
                <a:solidFill>
                  <a:srgbClr val="003078"/>
                </a:solidFill>
                <a:latin typeface="Arial"/>
                <a:cs typeface="Arial"/>
              </a:rPr>
              <a:t>وقتك</a:t>
            </a:r>
            <a:r>
              <a:rPr sz="25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2500" b="1" dirty="0" err="1">
                <a:solidFill>
                  <a:srgbClr val="003078"/>
                </a:solidFill>
                <a:latin typeface="Arial"/>
                <a:cs typeface="Arial"/>
              </a:rPr>
              <a:t>مضمون</a:t>
            </a:r>
            <a:endParaRPr sz="2500" b="1" dirty="0">
              <a:solidFill>
                <a:srgbClr val="003078"/>
              </a:solidFill>
              <a:latin typeface="Arial"/>
              <a:cs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3246120" cy="3840480"/>
          </a:xfrm>
          <a:prstGeom prst="roundRect">
            <a:avLst>
              <a:gd name="adj" fmla="val 4507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59" y="2697479"/>
            <a:ext cx="2697479" cy="2606040"/>
          </a:xfrm>
          <a:prstGeom prst="roundRect">
            <a:avLst>
              <a:gd name="adj" fmla="val 3157"/>
            </a:avLst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2113" y="3041903"/>
            <a:ext cx="804672" cy="804672"/>
          </a:xfrm>
          <a:prstGeom prst="ellipse">
            <a:avLst/>
          </a:prstGeom>
          <a:solidFill>
            <a:srgbClr val="204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avatar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89" y="3078479"/>
            <a:ext cx="731520" cy="73152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1769363" y="3041903"/>
            <a:ext cx="804672" cy="804672"/>
          </a:xfrm>
          <a:prstGeom prst="ellipse">
            <a:avLst/>
          </a:prstGeom>
          <a:solidFill>
            <a:srgbClr val="204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avata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939" y="3078479"/>
            <a:ext cx="731520" cy="73152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2626613" y="3041903"/>
            <a:ext cx="804672" cy="804672"/>
          </a:xfrm>
          <a:prstGeom prst="ellipse">
            <a:avLst/>
          </a:prstGeom>
          <a:solidFill>
            <a:srgbClr val="204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avatar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3189" y="3078479"/>
            <a:ext cx="731520" cy="73152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912113" y="4154423"/>
            <a:ext cx="804672" cy="804672"/>
          </a:xfrm>
          <a:prstGeom prst="ellipse">
            <a:avLst/>
          </a:prstGeom>
          <a:solidFill>
            <a:srgbClr val="204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avatar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689" y="4190999"/>
            <a:ext cx="731520" cy="73152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1805939" y="4190999"/>
            <a:ext cx="731520" cy="731520"/>
          </a:xfrm>
          <a:prstGeom prst="ellipse">
            <a:avLst/>
          </a:prstGeom>
          <a:solidFill>
            <a:srgbClr val="204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061971" y="4328160"/>
            <a:ext cx="219456" cy="219456"/>
          </a:xfrm>
          <a:prstGeom prst="ellipse">
            <a:avLst/>
          </a:prstGeom>
          <a:solidFill>
            <a:srgbClr val="9FB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70531" y="4593336"/>
            <a:ext cx="402336" cy="237744"/>
          </a:xfrm>
          <a:prstGeom prst="roundRect">
            <a:avLst>
              <a:gd name="adj" fmla="val 46153"/>
            </a:avLst>
          </a:prstGeom>
          <a:solidFill>
            <a:srgbClr val="9FB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63189" y="4190999"/>
            <a:ext cx="731520" cy="731520"/>
          </a:xfrm>
          <a:prstGeom prst="ellipse">
            <a:avLst/>
          </a:prstGeom>
          <a:solidFill>
            <a:srgbClr val="204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919221" y="4328160"/>
            <a:ext cx="219456" cy="219456"/>
          </a:xfrm>
          <a:prstGeom prst="ellipse">
            <a:avLst/>
          </a:prstGeom>
          <a:solidFill>
            <a:srgbClr val="9FB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827781" y="4593336"/>
            <a:ext cx="402336" cy="237744"/>
          </a:xfrm>
          <a:prstGeom prst="roundRect">
            <a:avLst>
              <a:gd name="adj" fmla="val 46153"/>
            </a:avLst>
          </a:prstGeom>
          <a:solidFill>
            <a:srgbClr val="9FB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68680" y="5422392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550153"/>
            <a:ext cx="1371600" cy="210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</a:rPr>
              <a:t>90 دقيقة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03119" y="5422392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D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03119" y="5559679"/>
            <a:ext cx="1371600" cy="1917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  <a:cs typeface="Arial"/>
              </a:rPr>
              <a:t>6 طلاب بالكتير</a:t>
            </a:r>
          </a:p>
        </p:txBody>
      </p:sp>
      <p:sp>
        <p:nvSpPr>
          <p:cNvPr id="40" name="Value Intro"/>
          <p:cNvSpPr txBox="1"/>
          <p:nvPr/>
        </p:nvSpPr>
        <p:spPr>
          <a:xfrm>
            <a:off x="4160520" y="1760905"/>
            <a:ext cx="6949440" cy="3354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2000" b="0" dirty="0">
                <a:solidFill>
                  <a:srgbClr val="5B6472"/>
                </a:solidFill>
                <a:latin typeface="Arial"/>
                <a:cs typeface="Arial"/>
              </a:rPr>
              <a:t>90 </a:t>
            </a:r>
            <a:r>
              <a:rPr sz="2000" b="0" dirty="0" err="1">
                <a:solidFill>
                  <a:srgbClr val="5B6472"/>
                </a:solidFill>
                <a:latin typeface="Arial"/>
                <a:cs typeface="Arial"/>
              </a:rPr>
              <a:t>دقيقة</a:t>
            </a:r>
            <a:r>
              <a:rPr sz="20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5B6472"/>
                </a:solidFill>
                <a:latin typeface="Arial"/>
                <a:cs typeface="Arial"/>
              </a:rPr>
              <a:t>لايف</a:t>
            </a:r>
            <a:r>
              <a:rPr sz="2000" b="0" dirty="0">
                <a:solidFill>
                  <a:srgbClr val="5B6472"/>
                </a:solidFill>
                <a:latin typeface="Arial"/>
                <a:cs typeface="Arial"/>
              </a:rPr>
              <a:t>… </a:t>
            </a:r>
            <a:r>
              <a:rPr sz="2000" b="0" dirty="0" err="1">
                <a:solidFill>
                  <a:srgbClr val="5B6472"/>
                </a:solidFill>
                <a:latin typeface="Arial"/>
                <a:cs typeface="Arial"/>
              </a:rPr>
              <a:t>كل</a:t>
            </a:r>
            <a:r>
              <a:rPr sz="20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5B6472"/>
                </a:solidFill>
                <a:latin typeface="Arial"/>
                <a:cs typeface="Arial"/>
              </a:rPr>
              <a:t>قيمتها</a:t>
            </a:r>
            <a:r>
              <a:rPr sz="20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5B6472"/>
                </a:solidFill>
                <a:latin typeface="Arial"/>
                <a:cs typeface="Arial"/>
              </a:rPr>
              <a:t>مبنية</a:t>
            </a:r>
            <a:r>
              <a:rPr sz="20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5B6472"/>
                </a:solidFill>
                <a:latin typeface="Arial"/>
                <a:cs typeface="Arial"/>
              </a:rPr>
              <a:t>على</a:t>
            </a:r>
            <a:r>
              <a:rPr sz="20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5B6472"/>
                </a:solidFill>
                <a:latin typeface="Arial"/>
                <a:cs typeface="Arial"/>
              </a:rPr>
              <a:t>حاجة</a:t>
            </a:r>
            <a:r>
              <a:rPr sz="20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5B6472"/>
                </a:solidFill>
                <a:latin typeface="Arial"/>
                <a:cs typeface="Arial"/>
              </a:rPr>
              <a:t>واحدة</a:t>
            </a:r>
            <a:r>
              <a:rPr sz="2000" b="0" dirty="0">
                <a:solidFill>
                  <a:srgbClr val="5B6472"/>
                </a:solidFill>
                <a:latin typeface="Arial"/>
                <a:cs typeface="Arial"/>
              </a:rPr>
              <a:t>: </a:t>
            </a:r>
            <a:r>
              <a:rPr sz="2000" b="0" dirty="0" err="1">
                <a:solidFill>
                  <a:srgbClr val="5B6472"/>
                </a:solidFill>
                <a:latin typeface="Arial"/>
                <a:cs typeface="Arial"/>
              </a:rPr>
              <a:t>إنك</a:t>
            </a:r>
            <a:r>
              <a:rPr sz="200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5B6472"/>
                </a:solidFill>
                <a:latin typeface="Arial"/>
                <a:cs typeface="Arial"/>
              </a:rPr>
              <a:t>تتكلم</a:t>
            </a:r>
            <a:r>
              <a:rPr sz="2000" b="0" dirty="0">
                <a:solidFill>
                  <a:srgbClr val="5B6472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41" name="Value Icon 1"/>
          <p:cNvSpPr/>
          <p:nvPr/>
        </p:nvSpPr>
        <p:spPr>
          <a:xfrm>
            <a:off x="10769834" y="2524101"/>
            <a:ext cx="360000" cy="360000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42" name="Value IconNum 1"/>
          <p:cNvSpPr txBox="1"/>
          <p:nvPr/>
        </p:nvSpPr>
        <p:spPr>
          <a:xfrm>
            <a:off x="10747080" y="2587278"/>
            <a:ext cx="36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43" name="Value Row 1"/>
          <p:cNvSpPr txBox="1"/>
          <p:nvPr/>
        </p:nvSpPr>
        <p:spPr>
          <a:xfrm>
            <a:off x="4160520" y="2576032"/>
            <a:ext cx="6409440" cy="3354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2000" b="1" dirty="0" err="1">
                <a:solidFill>
                  <a:srgbClr val="002060"/>
                </a:solidFill>
                <a:latin typeface="Arial"/>
                <a:cs typeface="Arial"/>
              </a:rPr>
              <a:t>تفاعلية</a:t>
            </a:r>
            <a:r>
              <a:rPr sz="2000" b="1" dirty="0">
                <a:solidFill>
                  <a:srgbClr val="002060"/>
                </a:solidFill>
                <a:latin typeface="Arial"/>
                <a:cs typeface="Arial"/>
              </a:rPr>
              <a:t> 100% —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إنت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اللي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بتتكلم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أغلب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الجلسة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،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مش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بتتفرج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وبس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44" name="Value Icon 2"/>
          <p:cNvSpPr/>
          <p:nvPr/>
        </p:nvSpPr>
        <p:spPr>
          <a:xfrm>
            <a:off x="10749960" y="3200000"/>
            <a:ext cx="360000" cy="360000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Value IconNum 2"/>
          <p:cNvSpPr txBox="1"/>
          <p:nvPr/>
        </p:nvSpPr>
        <p:spPr>
          <a:xfrm>
            <a:off x="10749960" y="3265000"/>
            <a:ext cx="36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46" name="Value Row 2"/>
          <p:cNvSpPr txBox="1"/>
          <p:nvPr/>
        </p:nvSpPr>
        <p:spPr>
          <a:xfrm>
            <a:off x="4160520" y="3250000"/>
            <a:ext cx="6409440" cy="3354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2000" b="1" dirty="0">
                <a:solidFill>
                  <a:srgbClr val="002060"/>
                </a:solidFill>
                <a:latin typeface="Arial"/>
                <a:cs typeface="Arial"/>
              </a:rPr>
              <a:t>6 </a:t>
            </a:r>
            <a:r>
              <a:rPr lang="ar-SA" sz="20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1" dirty="0" err="1">
                <a:solidFill>
                  <a:srgbClr val="002060"/>
                </a:solidFill>
                <a:latin typeface="Arial"/>
                <a:cs typeface="Arial"/>
              </a:rPr>
              <a:t>طلاب</a:t>
            </a:r>
            <a:r>
              <a:rPr sz="20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1" dirty="0" err="1">
                <a:solidFill>
                  <a:srgbClr val="002060"/>
                </a:solidFill>
                <a:latin typeface="Arial"/>
                <a:cs typeface="Arial"/>
              </a:rPr>
              <a:t>بالكتير</a:t>
            </a:r>
            <a:r>
              <a:rPr sz="2000" b="1" dirty="0">
                <a:solidFill>
                  <a:srgbClr val="002060"/>
                </a:solidFill>
                <a:latin typeface="Arial"/>
                <a:cs typeface="Arial"/>
              </a:rPr>
              <a:t> —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مجموعة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صغيرة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يعني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وقت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كلام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أطول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لكل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طالب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47" name="Value Icon 3"/>
          <p:cNvSpPr/>
          <p:nvPr/>
        </p:nvSpPr>
        <p:spPr>
          <a:xfrm>
            <a:off x="10749960" y="3680000"/>
            <a:ext cx="360000" cy="360000"/>
          </a:xfrm>
          <a:prstGeom prst="ellipse">
            <a:avLst/>
          </a:prstGeom>
          <a:solidFill>
            <a:srgbClr val="D818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Value IconNum 3"/>
          <p:cNvSpPr txBox="1"/>
          <p:nvPr/>
        </p:nvSpPr>
        <p:spPr>
          <a:xfrm>
            <a:off x="10749960" y="3745000"/>
            <a:ext cx="36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49" name="Value Row 3"/>
          <p:cNvSpPr txBox="1"/>
          <p:nvPr/>
        </p:nvSpPr>
        <p:spPr>
          <a:xfrm>
            <a:off x="4160520" y="3730000"/>
            <a:ext cx="6409440" cy="3354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2000" b="1" dirty="0" err="1">
                <a:solidFill>
                  <a:srgbClr val="002060"/>
                </a:solidFill>
                <a:latin typeface="Arial"/>
                <a:cs typeface="Arial"/>
              </a:rPr>
              <a:t>مواضيع</a:t>
            </a:r>
            <a:r>
              <a:rPr sz="20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1" dirty="0" err="1">
                <a:solidFill>
                  <a:srgbClr val="002060"/>
                </a:solidFill>
                <a:latin typeface="Arial"/>
                <a:cs typeface="Arial"/>
              </a:rPr>
              <a:t>من</a:t>
            </a:r>
            <a:r>
              <a:rPr sz="20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1" dirty="0" err="1">
                <a:solidFill>
                  <a:srgbClr val="002060"/>
                </a:solidFill>
                <a:latin typeface="Arial"/>
                <a:cs typeface="Arial"/>
              </a:rPr>
              <a:t>حياتك</a:t>
            </a:r>
            <a:r>
              <a:rPr sz="20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1" dirty="0" err="1">
                <a:solidFill>
                  <a:srgbClr val="002060"/>
                </a:solidFill>
                <a:latin typeface="Arial"/>
                <a:cs typeface="Arial"/>
              </a:rPr>
              <a:t>اليومية</a:t>
            </a:r>
            <a:r>
              <a:rPr sz="2000" b="1" dirty="0">
                <a:solidFill>
                  <a:srgbClr val="002060"/>
                </a:solidFill>
                <a:latin typeface="Arial"/>
                <a:cs typeface="Arial"/>
              </a:rPr>
              <a:t> —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إنجليزي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حقيقي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يساعدك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تتكلم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في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أي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0" dirty="0" err="1">
                <a:solidFill>
                  <a:srgbClr val="002060"/>
                </a:solidFill>
                <a:latin typeface="Arial"/>
                <a:cs typeface="Arial"/>
              </a:rPr>
              <a:t>موقف</a:t>
            </a:r>
            <a:r>
              <a:rPr sz="2000" b="0" dirty="0">
                <a:solidFill>
                  <a:srgbClr val="00206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50" name="Policy Card"/>
          <p:cNvSpPr/>
          <p:nvPr/>
        </p:nvSpPr>
        <p:spPr>
          <a:xfrm>
            <a:off x="3646168" y="4901690"/>
            <a:ext cx="7722873" cy="170000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19050">
            <a:solidFill>
              <a:srgbClr val="D9DEE6"/>
            </a:solidFill>
          </a:ln>
          <a:effectLst/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51" name="Policy Pill"/>
          <p:cNvSpPr/>
          <p:nvPr/>
        </p:nvSpPr>
        <p:spPr>
          <a:xfrm>
            <a:off x="8915400" y="4223968"/>
            <a:ext cx="2194560" cy="512064"/>
          </a:xfrm>
          <a:prstGeom prst="roundRect">
            <a:avLst>
              <a:gd name="adj" fmla="val 50000"/>
            </a:avLst>
          </a:prstGeom>
          <a:solidFill>
            <a:srgbClr val="D818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Policy Pill Label"/>
          <p:cNvSpPr txBox="1"/>
          <p:nvPr/>
        </p:nvSpPr>
        <p:spPr>
          <a:xfrm>
            <a:off x="8915400" y="4395000"/>
            <a:ext cx="2194560" cy="217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  <a:cs typeface="Arial"/>
              </a:rPr>
              <a:t>السياسة المرتبطة</a:t>
            </a:r>
          </a:p>
        </p:txBody>
      </p:sp>
      <p:sp>
        <p:nvSpPr>
          <p:cNvPr id="53" name="Policy Badge 1"/>
          <p:cNvSpPr/>
          <p:nvPr/>
        </p:nvSpPr>
        <p:spPr>
          <a:xfrm>
            <a:off x="10741918" y="5063382"/>
            <a:ext cx="300000" cy="300000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54" name="Policy BadgeNum 1"/>
          <p:cNvSpPr txBox="1"/>
          <p:nvPr/>
        </p:nvSpPr>
        <p:spPr>
          <a:xfrm>
            <a:off x="10755479" y="5152523"/>
            <a:ext cx="3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5" name="Policy Text 1"/>
          <p:cNvSpPr txBox="1"/>
          <p:nvPr/>
        </p:nvSpPr>
        <p:spPr>
          <a:xfrm>
            <a:off x="3717078" y="4990616"/>
            <a:ext cx="6876204" cy="642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1" u="sng" dirty="0" err="1">
                <a:solidFill>
                  <a:srgbClr val="1D2532"/>
                </a:solidFill>
                <a:latin typeface="Arial"/>
                <a:cs typeface="Arial"/>
              </a:rPr>
              <a:t>بتعرف</a:t>
            </a:r>
            <a:r>
              <a:rPr sz="1600" b="1" u="sng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u="sng" dirty="0" err="1">
                <a:solidFill>
                  <a:srgbClr val="1D2532"/>
                </a:solidFill>
                <a:latin typeface="Arial"/>
                <a:cs typeface="Arial"/>
              </a:rPr>
              <a:t>ميعاد</a:t>
            </a:r>
            <a:r>
              <a:rPr sz="1600" b="1" u="sng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u="sng" dirty="0" err="1">
                <a:solidFill>
                  <a:srgbClr val="1D2532"/>
                </a:solidFill>
                <a:latin typeface="Arial"/>
                <a:cs typeface="Arial"/>
              </a:rPr>
              <a:t>جلسة</a:t>
            </a:r>
            <a:r>
              <a:rPr sz="1600" b="1" u="sng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u="sng" dirty="0" err="1">
                <a:solidFill>
                  <a:srgbClr val="1D2532"/>
                </a:solidFill>
                <a:latin typeface="Arial"/>
                <a:cs typeface="Arial"/>
              </a:rPr>
              <a:t>الزوم</a:t>
            </a:r>
            <a:r>
              <a:rPr sz="1600" b="1" u="sng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u="sng" dirty="0" err="1">
                <a:solidFill>
                  <a:srgbClr val="1D2532"/>
                </a:solidFill>
                <a:latin typeface="Arial"/>
                <a:cs typeface="Arial"/>
              </a:rPr>
              <a:t>وتوافق</a:t>
            </a:r>
            <a:r>
              <a:rPr sz="1600" b="1" u="sng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u="sng" dirty="0" err="1">
                <a:solidFill>
                  <a:srgbClr val="1D2532"/>
                </a:solidFill>
                <a:latin typeface="Arial"/>
                <a:cs typeface="Arial"/>
              </a:rPr>
              <a:t>عليه</a:t>
            </a:r>
            <a:r>
              <a:rPr sz="1600" b="1" u="sng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u="sng" dirty="0" err="1">
                <a:solidFill>
                  <a:srgbClr val="1D2532"/>
                </a:solidFill>
                <a:latin typeface="Arial"/>
                <a:cs typeface="Arial"/>
              </a:rPr>
              <a:t>قبل</a:t>
            </a:r>
            <a:r>
              <a:rPr sz="1600" b="1" u="sng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u="sng" dirty="0" err="1">
                <a:solidFill>
                  <a:srgbClr val="1D2532"/>
                </a:solidFill>
                <a:latin typeface="Arial"/>
                <a:cs typeface="Arial"/>
              </a:rPr>
              <a:t>ما</a:t>
            </a:r>
            <a:r>
              <a:rPr sz="1600" b="1" u="sng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u="sng" dirty="0" err="1">
                <a:solidFill>
                  <a:srgbClr val="1D2532"/>
                </a:solidFill>
                <a:latin typeface="Arial"/>
                <a:cs typeface="Arial"/>
              </a:rPr>
              <a:t>تدفع</a:t>
            </a:r>
            <a:r>
              <a:rPr sz="1600" b="1" u="sng" dirty="0">
                <a:solidFill>
                  <a:srgbClr val="1D2532"/>
                </a:solidFill>
                <a:latin typeface="Arial"/>
                <a:cs typeface="Arial"/>
              </a:rPr>
              <a:t> — </a:t>
            </a:r>
            <a:r>
              <a:rPr sz="1600" b="1" u="sng" dirty="0" err="1">
                <a:solidFill>
                  <a:srgbClr val="1D2532"/>
                </a:solidFill>
                <a:latin typeface="Arial"/>
                <a:cs typeface="Arial"/>
              </a:rPr>
              <a:t>وبعد</a:t>
            </a:r>
            <a:r>
              <a:rPr sz="1600" b="1" u="sng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u="sng" dirty="0" err="1">
                <a:solidFill>
                  <a:srgbClr val="1D2532"/>
                </a:solidFill>
                <a:latin typeface="Arial"/>
                <a:cs typeface="Arial"/>
              </a:rPr>
              <a:t>كده</a:t>
            </a:r>
            <a:r>
              <a:rPr sz="1600" b="1" u="sng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u="sng" dirty="0" err="1">
                <a:solidFill>
                  <a:srgbClr val="1D2532"/>
                </a:solidFill>
                <a:latin typeface="Arial"/>
                <a:cs typeface="Arial"/>
              </a:rPr>
              <a:t>الميعاد</a:t>
            </a:r>
            <a:r>
              <a:rPr sz="1600" b="1" u="sng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u="sng" dirty="0" err="1">
                <a:solidFill>
                  <a:srgbClr val="1D2532"/>
                </a:solidFill>
                <a:latin typeface="Arial"/>
                <a:cs typeface="Arial"/>
              </a:rPr>
              <a:t>ثابت</a:t>
            </a:r>
            <a:r>
              <a:rPr sz="1600" b="1" u="sng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u="sng" dirty="0" err="1">
                <a:solidFill>
                  <a:srgbClr val="1D2532"/>
                </a:solidFill>
                <a:latin typeface="Arial"/>
                <a:cs typeface="Arial"/>
              </a:rPr>
              <a:t>ومايتغيرش</a:t>
            </a:r>
            <a:r>
              <a:rPr sz="1600" b="1" u="sng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u="sng" dirty="0" err="1">
                <a:solidFill>
                  <a:srgbClr val="1D2532"/>
                </a:solidFill>
                <a:latin typeface="Arial"/>
                <a:cs typeface="Arial"/>
              </a:rPr>
              <a:t>طول</a:t>
            </a:r>
            <a:r>
              <a:rPr sz="1600" b="1" u="sng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u="sng" dirty="0" err="1">
                <a:solidFill>
                  <a:srgbClr val="1D2532"/>
                </a:solidFill>
                <a:latin typeface="Arial"/>
                <a:cs typeface="Arial"/>
              </a:rPr>
              <a:t>الرحلة</a:t>
            </a:r>
            <a:r>
              <a:rPr sz="1600" b="1" u="sng" dirty="0">
                <a:solidFill>
                  <a:srgbClr val="1D2532"/>
                </a:solidFill>
                <a:latin typeface="Arial"/>
                <a:cs typeface="Arial"/>
              </a:rPr>
              <a:t>.</a:t>
            </a:r>
          </a:p>
          <a:p>
            <a:pPr algn="r" rtl="1">
              <a:lnSpc>
                <a:spcPct val="130000"/>
              </a:lnSpc>
            </a:pPr>
            <a:r>
              <a:rPr lang="ar-SA" b="0" dirty="0">
                <a:solidFill>
                  <a:srgbClr val="FF0000"/>
                </a:solidFill>
                <a:latin typeface="Arial"/>
                <a:cs typeface="Arial"/>
              </a:rPr>
              <a:t>  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ليه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؟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عشان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جدولك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يفضل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ثابت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،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وتخلّص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ال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ـ </a:t>
            </a:r>
            <a:r>
              <a:rPr lang="en-EG" b="0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أو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ال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ـ </a:t>
            </a:r>
            <a:r>
              <a:rPr lang="en-EG" b="0" dirty="0">
                <a:solidFill>
                  <a:srgbClr val="FF0000"/>
                </a:solidFill>
                <a:latin typeface="Arial"/>
                <a:cs typeface="Arial"/>
              </a:rPr>
              <a:t>6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مستويات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في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أقصر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وقت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ممكن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56" name="Policy Badge 2"/>
          <p:cNvSpPr/>
          <p:nvPr/>
        </p:nvSpPr>
        <p:spPr>
          <a:xfrm>
            <a:off x="10716682" y="5916690"/>
            <a:ext cx="300000" cy="300000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57" name="Policy BadgeNum 2"/>
          <p:cNvSpPr txBox="1"/>
          <p:nvPr/>
        </p:nvSpPr>
        <p:spPr>
          <a:xfrm>
            <a:off x="10716682" y="5943373"/>
            <a:ext cx="3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58" name="Policy Text 2"/>
          <p:cNvSpPr txBox="1"/>
          <p:nvPr/>
        </p:nvSpPr>
        <p:spPr>
          <a:xfrm>
            <a:off x="3794760" y="5862200"/>
            <a:ext cx="6606491" cy="57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كل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جلسة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بتتسجل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على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موقع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الأكاديمية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،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والتسجيل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متاح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لمدة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أسبوعين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بس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—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للمذاكرة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والمراجعة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.</a:t>
            </a:r>
          </a:p>
          <a:p>
            <a:pPr algn="r" rtl="1">
              <a:lnSpc>
                <a:spcPct val="130000"/>
              </a:lnSpc>
            </a:pPr>
            <a:r>
              <a:rPr lang="ar-SA" sz="1400" b="1" dirty="0">
                <a:solidFill>
                  <a:srgbClr val="D81818"/>
                </a:solidFill>
                <a:latin typeface="Arial"/>
                <a:cs typeface="Arial"/>
              </a:rPr>
              <a:t>            </a:t>
            </a:r>
            <a:r>
              <a:rPr sz="1400" b="1" dirty="0" err="1">
                <a:solidFill>
                  <a:srgbClr val="D81818"/>
                </a:solidFill>
                <a:latin typeface="Arial"/>
                <a:cs typeface="Arial"/>
              </a:rPr>
              <a:t>لو</a:t>
            </a:r>
            <a:r>
              <a:rPr sz="1400" b="1" dirty="0">
                <a:solidFill>
                  <a:srgbClr val="D81818"/>
                </a:solidFill>
                <a:latin typeface="Arial"/>
                <a:cs typeface="Arial"/>
              </a:rPr>
              <a:t> </a:t>
            </a:r>
            <a:r>
              <a:rPr sz="1400" b="1" dirty="0" err="1">
                <a:solidFill>
                  <a:srgbClr val="D81818"/>
                </a:solidFill>
                <a:latin typeface="Arial"/>
                <a:cs typeface="Arial"/>
              </a:rPr>
              <a:t>غبت</a:t>
            </a:r>
            <a:r>
              <a:rPr sz="1400" b="1" dirty="0">
                <a:solidFill>
                  <a:srgbClr val="D81818"/>
                </a:solidFill>
                <a:latin typeface="Arial"/>
                <a:cs typeface="Arial"/>
              </a:rPr>
              <a:t> </a:t>
            </a:r>
            <a:r>
              <a:rPr sz="1400" b="1" dirty="0" err="1">
                <a:solidFill>
                  <a:srgbClr val="D81818"/>
                </a:solidFill>
                <a:latin typeface="Arial"/>
                <a:cs typeface="Arial"/>
              </a:rPr>
              <a:t>لأي</a:t>
            </a:r>
            <a:r>
              <a:rPr sz="1400" b="1" dirty="0">
                <a:solidFill>
                  <a:srgbClr val="D81818"/>
                </a:solidFill>
                <a:latin typeface="Arial"/>
                <a:cs typeface="Arial"/>
              </a:rPr>
              <a:t> </a:t>
            </a:r>
            <a:r>
              <a:rPr sz="1400" b="1" dirty="0" err="1">
                <a:solidFill>
                  <a:srgbClr val="D81818"/>
                </a:solidFill>
                <a:latin typeface="Arial"/>
                <a:cs typeface="Arial"/>
              </a:rPr>
              <a:t>سبب</a:t>
            </a:r>
            <a:r>
              <a:rPr sz="1400" b="1" dirty="0">
                <a:solidFill>
                  <a:srgbClr val="D81818"/>
                </a:solidFill>
                <a:latin typeface="Arial"/>
                <a:cs typeface="Arial"/>
              </a:rPr>
              <a:t>: </a:t>
            </a:r>
            <a:r>
              <a:rPr sz="1400" b="1" dirty="0" err="1">
                <a:solidFill>
                  <a:srgbClr val="D81818"/>
                </a:solidFill>
                <a:latin typeface="Arial"/>
                <a:cs typeface="Arial"/>
              </a:rPr>
              <a:t>بديلك</a:t>
            </a:r>
            <a:r>
              <a:rPr sz="1400" b="1" dirty="0">
                <a:solidFill>
                  <a:srgbClr val="D81818"/>
                </a:solidFill>
                <a:latin typeface="Arial"/>
                <a:cs typeface="Arial"/>
              </a:rPr>
              <a:t> </a:t>
            </a:r>
            <a:r>
              <a:rPr sz="1400" b="1" dirty="0" err="1">
                <a:solidFill>
                  <a:srgbClr val="D81818"/>
                </a:solidFill>
                <a:latin typeface="Arial"/>
                <a:cs typeface="Arial"/>
              </a:rPr>
              <a:t>الوحيد</a:t>
            </a:r>
            <a:r>
              <a:rPr sz="1400" b="1" dirty="0">
                <a:solidFill>
                  <a:srgbClr val="D81818"/>
                </a:solidFill>
                <a:latin typeface="Arial"/>
                <a:cs typeface="Arial"/>
              </a:rPr>
              <a:t> </a:t>
            </a:r>
            <a:r>
              <a:rPr sz="1400" b="1" dirty="0" err="1">
                <a:solidFill>
                  <a:srgbClr val="D81818"/>
                </a:solidFill>
                <a:latin typeface="Arial"/>
                <a:cs typeface="Arial"/>
              </a:rPr>
              <a:t>هو</a:t>
            </a:r>
            <a:r>
              <a:rPr sz="1400" b="1" dirty="0">
                <a:solidFill>
                  <a:srgbClr val="D81818"/>
                </a:solidFill>
                <a:latin typeface="Arial"/>
                <a:cs typeface="Arial"/>
              </a:rPr>
              <a:t> </a:t>
            </a:r>
            <a:r>
              <a:rPr sz="1400" b="1" dirty="0" err="1">
                <a:solidFill>
                  <a:srgbClr val="D81818"/>
                </a:solidFill>
                <a:latin typeface="Arial"/>
                <a:cs typeface="Arial"/>
              </a:rPr>
              <a:t>مشاهدة</a:t>
            </a:r>
            <a:r>
              <a:rPr sz="1400" b="1" dirty="0">
                <a:solidFill>
                  <a:srgbClr val="D81818"/>
                </a:solidFill>
                <a:latin typeface="Arial"/>
                <a:cs typeface="Arial"/>
              </a:rPr>
              <a:t> </a:t>
            </a:r>
            <a:r>
              <a:rPr sz="1400" b="1" dirty="0" err="1">
                <a:solidFill>
                  <a:srgbClr val="D81818"/>
                </a:solidFill>
                <a:latin typeface="Arial"/>
                <a:cs typeface="Arial"/>
              </a:rPr>
              <a:t>التسجيل</a:t>
            </a:r>
            <a:r>
              <a:rPr sz="1400" b="1" dirty="0">
                <a:solidFill>
                  <a:srgbClr val="D81818"/>
                </a:solidFill>
                <a:latin typeface="Arial"/>
                <a:cs typeface="Arial"/>
              </a:rPr>
              <a:t> </a:t>
            </a:r>
            <a:r>
              <a:rPr sz="1400" b="1" dirty="0" err="1">
                <a:solidFill>
                  <a:srgbClr val="D81818"/>
                </a:solidFill>
                <a:latin typeface="Arial"/>
                <a:cs typeface="Arial"/>
              </a:rPr>
              <a:t>خلال</a:t>
            </a:r>
            <a:r>
              <a:rPr sz="1400" b="1" dirty="0">
                <a:solidFill>
                  <a:srgbClr val="D81818"/>
                </a:solidFill>
                <a:latin typeface="Arial"/>
                <a:cs typeface="Arial"/>
              </a:rPr>
              <a:t> </a:t>
            </a:r>
            <a:r>
              <a:rPr sz="1400" b="1" dirty="0" err="1">
                <a:solidFill>
                  <a:srgbClr val="D81818"/>
                </a:solidFill>
                <a:latin typeface="Arial"/>
                <a:cs typeface="Arial"/>
              </a:rPr>
              <a:t>الأسبوعين</a:t>
            </a:r>
            <a:r>
              <a:rPr sz="1400" b="1" dirty="0">
                <a:solidFill>
                  <a:srgbClr val="D81818"/>
                </a:solidFill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749808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7320" y="642620"/>
            <a:ext cx="4023360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10000"/>
              </a:lnSpc>
            </a:pPr>
            <a:r>
              <a:rPr sz="1600" b="1">
                <a:solidFill>
                  <a:srgbClr val="003078"/>
                </a:solidFill>
                <a:latin typeface="Arial"/>
                <a:cs typeface="Arial"/>
              </a:rPr>
              <a:t>أكاديمية أحمد حسن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932688"/>
            <a:ext cx="4023360" cy="166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950" b="0">
                <a:solidFill>
                  <a:srgbClr val="5B6472"/>
                </a:solidFill>
                <a:latin typeface="Arial"/>
                <a:cs typeface="Arial"/>
              </a:rPr>
              <a:t>English with Ahmed Hassan</a:t>
            </a:r>
          </a:p>
        </p:txBody>
      </p:sp>
      <p:sp>
        <p:nvSpPr>
          <p:cNvPr id="5" name="Oval 4"/>
          <p:cNvSpPr/>
          <p:nvPr/>
        </p:nvSpPr>
        <p:spPr>
          <a:xfrm>
            <a:off x="10927080" y="384048"/>
            <a:ext cx="786384" cy="786384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561340"/>
            <a:ext cx="786384" cy="47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9120" y="729427"/>
            <a:ext cx="6720840" cy="507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3200" b="1" dirty="0" err="1">
                <a:solidFill>
                  <a:srgbClr val="003078"/>
                </a:solidFill>
                <a:latin typeface="Arial"/>
                <a:cs typeface="Arial"/>
              </a:rPr>
              <a:t>تاسك</a:t>
            </a:r>
            <a:r>
              <a:rPr sz="32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3200" b="1" dirty="0" err="1">
                <a:solidFill>
                  <a:srgbClr val="003078"/>
                </a:solidFill>
                <a:latin typeface="Arial"/>
                <a:cs typeface="Arial"/>
              </a:rPr>
              <a:t>سبيكينج</a:t>
            </a:r>
            <a:r>
              <a:rPr sz="3200" b="1" dirty="0">
                <a:solidFill>
                  <a:srgbClr val="003078"/>
                </a:solidFill>
                <a:latin typeface="Arial"/>
                <a:cs typeface="Arial"/>
              </a:rPr>
              <a:t>… </a:t>
            </a:r>
            <a:r>
              <a:rPr sz="3200" b="1" dirty="0" err="1">
                <a:solidFill>
                  <a:srgbClr val="003078"/>
                </a:solidFill>
                <a:latin typeface="Arial"/>
                <a:cs typeface="Arial"/>
              </a:rPr>
              <a:t>خد</a:t>
            </a:r>
            <a:r>
              <a:rPr sz="32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3200" b="1" dirty="0" err="1">
                <a:solidFill>
                  <a:srgbClr val="003078"/>
                </a:solidFill>
                <a:latin typeface="Arial"/>
                <a:cs typeface="Arial"/>
              </a:rPr>
              <a:t>وقتك</a:t>
            </a:r>
            <a:r>
              <a:rPr sz="32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3200" b="1" dirty="0" err="1">
                <a:solidFill>
                  <a:srgbClr val="003078"/>
                </a:solidFill>
                <a:latin typeface="Arial"/>
                <a:cs typeface="Arial"/>
              </a:rPr>
              <a:t>واتكلم</a:t>
            </a:r>
            <a:r>
              <a:rPr sz="32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3200" b="1" dirty="0" err="1">
                <a:solidFill>
                  <a:srgbClr val="003078"/>
                </a:solidFill>
                <a:latin typeface="Arial"/>
                <a:cs typeface="Arial"/>
              </a:rPr>
              <a:t>أطول</a:t>
            </a:r>
            <a:endParaRPr sz="3200" b="1" dirty="0">
              <a:solidFill>
                <a:srgbClr val="003078"/>
              </a:solidFill>
              <a:latin typeface="Arial"/>
              <a:cs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3246120" cy="3840480"/>
          </a:xfrm>
          <a:prstGeom prst="roundRect">
            <a:avLst>
              <a:gd name="adj" fmla="val 4507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03020" y="2788920"/>
            <a:ext cx="1737360" cy="1737360"/>
          </a:xfrm>
          <a:prstGeom prst="ellipse">
            <a:avLst/>
          </a:prstGeom>
          <a:solidFill>
            <a:srgbClr val="FB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31620" y="3017520"/>
            <a:ext cx="1280160" cy="1280160"/>
          </a:xfrm>
          <a:prstGeom prst="ellipse">
            <a:avLst/>
          </a:prstGeom>
          <a:solidFill>
            <a:srgbClr val="D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007107" y="3200400"/>
            <a:ext cx="329184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144268" y="3785615"/>
            <a:ext cx="54864" cy="18288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988819" y="3950208"/>
            <a:ext cx="365760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87552" y="5074920"/>
            <a:ext cx="691895" cy="457200"/>
          </a:xfrm>
          <a:prstGeom prst="roundRect">
            <a:avLst>
              <a:gd name="adj" fmla="val 24000"/>
            </a:avLst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5220970"/>
            <a:ext cx="691895" cy="210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</a:rPr>
              <a:t>فكّر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5752" y="5074920"/>
            <a:ext cx="691895" cy="457200"/>
          </a:xfrm>
          <a:prstGeom prst="roundRect">
            <a:avLst>
              <a:gd name="adj" fmla="val 24000"/>
            </a:avLst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5752" y="5220970"/>
            <a:ext cx="691895" cy="210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</a:rPr>
              <a:t>سجّل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63952" y="5074920"/>
            <a:ext cx="691895" cy="457200"/>
          </a:xfrm>
          <a:prstGeom prst="roundRect">
            <a:avLst>
              <a:gd name="adj" fmla="val 24000"/>
            </a:avLst>
          </a:prstGeom>
          <a:solidFill>
            <a:srgbClr val="D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63952" y="5220970"/>
            <a:ext cx="691895" cy="210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</a:rPr>
              <a:t>فيدباك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3246120" cy="212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5000"/>
              </a:lnSpc>
            </a:pPr>
            <a:r>
              <a:rPr sz="1250" b="1">
                <a:solidFill>
                  <a:srgbClr val="003078"/>
                </a:solidFill>
                <a:latin typeface="Arial"/>
                <a:cs typeface="Arial"/>
              </a:rPr>
              <a:t>30 تاسك سبيكينج</a:t>
            </a:r>
          </a:p>
        </p:txBody>
      </p:sp>
      <p:sp>
        <p:nvSpPr>
          <p:cNvPr id="40" name="Definition"/>
          <p:cNvSpPr txBox="1"/>
          <p:nvPr/>
        </p:nvSpPr>
        <p:spPr>
          <a:xfrm>
            <a:off x="4160520" y="1548254"/>
            <a:ext cx="6949440" cy="1441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400" b="1" dirty="0" err="1">
                <a:solidFill>
                  <a:srgbClr val="FF0000"/>
                </a:solidFill>
                <a:latin typeface="Arial"/>
                <a:cs typeface="Arial"/>
              </a:rPr>
              <a:t>تاسك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FF0000"/>
                </a:solidFill>
                <a:latin typeface="Arial"/>
                <a:cs typeface="Arial"/>
              </a:rPr>
              <a:t>سبيكينج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FF0000"/>
                </a:solidFill>
                <a:latin typeface="Arial"/>
                <a:cs typeface="Arial"/>
              </a:rPr>
              <a:t>بتاخده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FF0000"/>
                </a:solidFill>
                <a:latin typeface="Arial"/>
                <a:cs typeface="Arial"/>
              </a:rPr>
              <a:t>في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FF0000"/>
                </a:solidFill>
                <a:latin typeface="Arial"/>
                <a:cs typeface="Arial"/>
              </a:rPr>
              <a:t>نهاية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FF0000"/>
                </a:solidFill>
                <a:latin typeface="Arial"/>
                <a:cs typeface="Arial"/>
              </a:rPr>
              <a:t>كل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/>
                <a:cs typeface="Arial"/>
              </a:rPr>
              <a:t>م</a:t>
            </a:r>
            <a:r>
              <a:rPr lang="ar-SA" sz="2400" b="1" dirty="0">
                <a:solidFill>
                  <a:srgbClr val="FF0000"/>
                </a:solidFill>
                <a:latin typeface="Arial"/>
                <a:cs typeface="Arial"/>
              </a:rPr>
              <a:t>حاضره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: </a:t>
            </a:r>
            <a:r>
              <a:rPr sz="2400" b="1" dirty="0" err="1">
                <a:solidFill>
                  <a:srgbClr val="FF0000"/>
                </a:solidFill>
                <a:latin typeface="Arial"/>
                <a:cs typeface="Arial"/>
              </a:rPr>
              <a:t>بتسجّل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FF0000"/>
                </a:solidFill>
                <a:latin typeface="Arial"/>
                <a:cs typeface="Arial"/>
              </a:rPr>
              <a:t>إجابتك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FF0000"/>
                </a:solidFill>
                <a:latin typeface="Arial"/>
                <a:cs typeface="Arial"/>
              </a:rPr>
              <a:t>في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FF0000"/>
                </a:solidFill>
                <a:latin typeface="Arial"/>
                <a:cs typeface="Arial"/>
              </a:rPr>
              <a:t>فويس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FF0000"/>
                </a:solidFill>
                <a:latin typeface="Arial"/>
                <a:cs typeface="Arial"/>
              </a:rPr>
              <a:t>نوت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FF0000"/>
                </a:solidFill>
                <a:latin typeface="Arial"/>
                <a:cs typeface="Arial"/>
              </a:rPr>
              <a:t>وبترفعها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FF0000"/>
                </a:solidFill>
                <a:latin typeface="Arial"/>
                <a:cs typeface="Arial"/>
              </a:rPr>
              <a:t>على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FF0000"/>
                </a:solidFill>
                <a:latin typeface="Arial"/>
                <a:cs typeface="Arial"/>
              </a:rPr>
              <a:t>السيستم</a:t>
            </a:r>
            <a:br>
              <a:rPr lang="en-US" sz="2400" b="0" dirty="0">
                <a:solidFill>
                  <a:srgbClr val="5B6472"/>
                </a:solidFill>
                <a:latin typeface="Arial"/>
                <a:cs typeface="Arial"/>
              </a:rPr>
            </a:br>
            <a:r>
              <a:rPr lang="en-US" sz="2400" b="0" dirty="0">
                <a:solidFill>
                  <a:srgbClr val="5B6472"/>
                </a:solidFill>
                <a:latin typeface="Arial"/>
                <a:cs typeface="Arial"/>
              </a:rPr>
              <a:t>            </a:t>
            </a:r>
            <a:r>
              <a:rPr sz="2400" b="1" dirty="0" err="1">
                <a:solidFill>
                  <a:srgbClr val="003078"/>
                </a:solidFill>
                <a:latin typeface="Arial"/>
                <a:cs typeface="Arial"/>
              </a:rPr>
              <a:t>والمدرّب</a:t>
            </a:r>
            <a:r>
              <a:rPr sz="24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3078"/>
                </a:solidFill>
                <a:latin typeface="Arial"/>
                <a:cs typeface="Arial"/>
              </a:rPr>
              <a:t>بيسمعها</a:t>
            </a:r>
            <a:r>
              <a:rPr sz="24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3078"/>
                </a:solidFill>
                <a:latin typeface="Arial"/>
                <a:cs typeface="Arial"/>
              </a:rPr>
              <a:t>ويرجعلك</a:t>
            </a:r>
            <a:r>
              <a:rPr sz="24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3078"/>
                </a:solidFill>
                <a:latin typeface="Arial"/>
                <a:cs typeface="Arial"/>
              </a:rPr>
              <a:t>بفيدباك</a:t>
            </a:r>
            <a:r>
              <a:rPr sz="24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3078"/>
                </a:solidFill>
                <a:latin typeface="Arial"/>
                <a:cs typeface="Arial"/>
              </a:rPr>
              <a:t>على</a:t>
            </a:r>
            <a:r>
              <a:rPr sz="24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3078"/>
                </a:solidFill>
                <a:latin typeface="Arial"/>
                <a:cs typeface="Arial"/>
              </a:rPr>
              <a:t>كلامك</a:t>
            </a:r>
            <a:r>
              <a:rPr sz="2400" b="1" dirty="0">
                <a:solidFill>
                  <a:srgbClr val="003078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41" name="Value Card 1"/>
          <p:cNvSpPr/>
          <p:nvPr/>
        </p:nvSpPr>
        <p:spPr>
          <a:xfrm>
            <a:off x="4160520" y="3150000"/>
            <a:ext cx="6949440" cy="85000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19050">
            <a:solidFill>
              <a:srgbClr val="D9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Value Badge 1"/>
          <p:cNvSpPr/>
          <p:nvPr/>
        </p:nvSpPr>
        <p:spPr>
          <a:xfrm>
            <a:off x="10449960" y="3365000"/>
            <a:ext cx="420000" cy="420000"/>
          </a:xfrm>
          <a:prstGeom prst="ellipse">
            <a:avLst/>
          </a:prstGeom>
          <a:solidFill>
            <a:srgbClr val="D818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Value BadgeNum 1"/>
          <p:cNvSpPr txBox="1"/>
          <p:nvPr/>
        </p:nvSpPr>
        <p:spPr>
          <a:xfrm>
            <a:off x="10449960" y="3455000"/>
            <a:ext cx="4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44" name="Value Head 1"/>
          <p:cNvSpPr txBox="1"/>
          <p:nvPr/>
        </p:nvSpPr>
        <p:spPr>
          <a:xfrm>
            <a:off x="4440520" y="3300000"/>
            <a:ext cx="5809440" cy="291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النشاط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الوحيد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اللي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بيخليك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تتكلم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lang="ar-SA" b="1" dirty="0">
                <a:solidFill>
                  <a:srgbClr val="003078"/>
                </a:solidFill>
                <a:latin typeface="Arial"/>
                <a:cs typeface="Arial"/>
              </a:rPr>
              <a:t>اطول</a:t>
            </a:r>
            <a:endParaRPr b="1" dirty="0">
              <a:solidFill>
                <a:srgbClr val="003078"/>
              </a:solidFill>
              <a:latin typeface="Arial"/>
              <a:cs typeface="Arial"/>
            </a:endParaRPr>
          </a:p>
        </p:txBody>
      </p:sp>
      <p:sp>
        <p:nvSpPr>
          <p:cNvPr id="45" name="Value Desc 1"/>
          <p:cNvSpPr txBox="1"/>
          <p:nvPr/>
        </p:nvSpPr>
        <p:spPr>
          <a:xfrm>
            <a:off x="4440520" y="3610000"/>
            <a:ext cx="5809440" cy="268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كل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تاسك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بتسلّمه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بيزوّد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وقت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كلامك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الفعلي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بالإنجليزي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خارج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ar-SA" sz="1600" b="0" dirty="0">
                <a:solidFill>
                  <a:srgbClr val="FF0000"/>
                </a:solidFill>
                <a:latin typeface="Arial"/>
                <a:cs typeface="Arial"/>
              </a:rPr>
              <a:t>المحاضرات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46" name="Value Card 2"/>
          <p:cNvSpPr/>
          <p:nvPr/>
        </p:nvSpPr>
        <p:spPr>
          <a:xfrm>
            <a:off x="4160520" y="4170000"/>
            <a:ext cx="6949440" cy="85000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19050">
            <a:solidFill>
              <a:srgbClr val="D9DEE6"/>
            </a:solidFill>
          </a:ln>
          <a:effectLst/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47" name="Value Badge 2"/>
          <p:cNvSpPr/>
          <p:nvPr/>
        </p:nvSpPr>
        <p:spPr>
          <a:xfrm>
            <a:off x="10449960" y="4385000"/>
            <a:ext cx="420000" cy="420000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Value BadgeNum 2"/>
          <p:cNvSpPr txBox="1"/>
          <p:nvPr/>
        </p:nvSpPr>
        <p:spPr>
          <a:xfrm>
            <a:off x="10449960" y="4475000"/>
            <a:ext cx="4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49" name="Value Head 2"/>
          <p:cNvSpPr txBox="1"/>
          <p:nvPr/>
        </p:nvSpPr>
        <p:spPr>
          <a:xfrm>
            <a:off x="4440520" y="4320000"/>
            <a:ext cx="5809440" cy="291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بتجمع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أفكارك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الأول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… </a:t>
            </a: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وبعدين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تتكلم</a:t>
            </a:r>
            <a:endParaRPr b="1" dirty="0">
              <a:solidFill>
                <a:srgbClr val="003078"/>
              </a:solidFill>
              <a:latin typeface="Arial"/>
              <a:cs typeface="Arial"/>
            </a:endParaRPr>
          </a:p>
        </p:txBody>
      </p:sp>
      <p:sp>
        <p:nvSpPr>
          <p:cNvPr id="50" name="Value Desc 2"/>
          <p:cNvSpPr txBox="1"/>
          <p:nvPr/>
        </p:nvSpPr>
        <p:spPr>
          <a:xfrm>
            <a:off x="4440520" y="4630000"/>
            <a:ext cx="5809440" cy="3018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بتتعلم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ترتّب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اللي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عايز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تقوله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قبل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ما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تسجّل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—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فكلامك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بيطلع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أوضح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FF0000"/>
                </a:solidFill>
                <a:latin typeface="Arial"/>
                <a:cs typeface="Arial"/>
              </a:rPr>
              <a:t>وأطول</a:t>
            </a:r>
            <a:r>
              <a:rPr b="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51" name="Value Card 3"/>
          <p:cNvSpPr/>
          <p:nvPr/>
        </p:nvSpPr>
        <p:spPr>
          <a:xfrm>
            <a:off x="4160520" y="5190000"/>
            <a:ext cx="6949440" cy="85000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19050">
            <a:solidFill>
              <a:srgbClr val="D9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Value Badge 3"/>
          <p:cNvSpPr/>
          <p:nvPr/>
        </p:nvSpPr>
        <p:spPr>
          <a:xfrm>
            <a:off x="10449960" y="5405000"/>
            <a:ext cx="420000" cy="420000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Value BadgeNum 3"/>
          <p:cNvSpPr txBox="1"/>
          <p:nvPr/>
        </p:nvSpPr>
        <p:spPr>
          <a:xfrm>
            <a:off x="10449960" y="5495000"/>
            <a:ext cx="4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54" name="Value Head 3"/>
          <p:cNvSpPr txBox="1"/>
          <p:nvPr/>
        </p:nvSpPr>
        <p:spPr>
          <a:xfrm>
            <a:off x="4440520" y="5340000"/>
            <a:ext cx="5809440" cy="291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بتصحّح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أخطاء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الجرامر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بنفسك</a:t>
            </a:r>
            <a:endParaRPr b="1" dirty="0">
              <a:solidFill>
                <a:srgbClr val="003078"/>
              </a:solidFill>
              <a:latin typeface="Arial"/>
              <a:cs typeface="Arial"/>
            </a:endParaRPr>
          </a:p>
        </p:txBody>
      </p:sp>
      <p:sp>
        <p:nvSpPr>
          <p:cNvPr id="55" name="Value Desc 3"/>
          <p:cNvSpPr txBox="1"/>
          <p:nvPr/>
        </p:nvSpPr>
        <p:spPr>
          <a:xfrm>
            <a:off x="4440520" y="5650000"/>
            <a:ext cx="5809440" cy="268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وانت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بتسمع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تسجيلك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،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بتلاحظ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أخطاءك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وبتظبطها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من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غير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ما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حد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يقولك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749808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7320" y="642620"/>
            <a:ext cx="4023360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10000"/>
              </a:lnSpc>
            </a:pPr>
            <a:r>
              <a:rPr sz="1600" b="1">
                <a:solidFill>
                  <a:srgbClr val="003078"/>
                </a:solidFill>
                <a:latin typeface="Arial"/>
                <a:cs typeface="Arial"/>
              </a:rPr>
              <a:t>أكاديمية أحمد حسن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932688"/>
            <a:ext cx="4023360" cy="166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950" b="0">
                <a:solidFill>
                  <a:srgbClr val="5B6472"/>
                </a:solidFill>
                <a:latin typeface="Arial"/>
                <a:cs typeface="Arial"/>
              </a:rPr>
              <a:t>English with Ahmed Hassan</a:t>
            </a:r>
          </a:p>
        </p:txBody>
      </p:sp>
      <p:sp>
        <p:nvSpPr>
          <p:cNvPr id="5" name="Oval 4"/>
          <p:cNvSpPr/>
          <p:nvPr/>
        </p:nvSpPr>
        <p:spPr>
          <a:xfrm>
            <a:off x="10927080" y="384048"/>
            <a:ext cx="786384" cy="786384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561340"/>
            <a:ext cx="786384" cy="47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3335" y="807409"/>
            <a:ext cx="6720840" cy="507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3200" b="1" dirty="0" err="1">
                <a:solidFill>
                  <a:srgbClr val="003078"/>
                </a:solidFill>
                <a:latin typeface="Arial"/>
                <a:cs typeface="Arial"/>
              </a:rPr>
              <a:t>مكالمة</a:t>
            </a:r>
            <a:r>
              <a:rPr sz="32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3200" b="1" dirty="0" err="1">
                <a:solidFill>
                  <a:srgbClr val="003078"/>
                </a:solidFill>
                <a:latin typeface="Arial"/>
                <a:cs typeface="Arial"/>
              </a:rPr>
              <a:t>خاصة</a:t>
            </a:r>
            <a:r>
              <a:rPr sz="3200" b="1" dirty="0">
                <a:solidFill>
                  <a:srgbClr val="003078"/>
                </a:solidFill>
                <a:latin typeface="Arial"/>
                <a:cs typeface="Arial"/>
              </a:rPr>
              <a:t>… </a:t>
            </a:r>
            <a:r>
              <a:rPr sz="3200" b="1" dirty="0" err="1">
                <a:solidFill>
                  <a:srgbClr val="003078"/>
                </a:solidFill>
                <a:latin typeface="Arial"/>
                <a:cs typeface="Arial"/>
              </a:rPr>
              <a:t>تتكلم</a:t>
            </a:r>
            <a:r>
              <a:rPr sz="32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3200" b="1" dirty="0" err="1">
                <a:solidFill>
                  <a:srgbClr val="003078"/>
                </a:solidFill>
                <a:latin typeface="Arial"/>
                <a:cs typeface="Arial"/>
              </a:rPr>
              <a:t>تحت</a:t>
            </a:r>
            <a:r>
              <a:rPr sz="32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3200" b="1" dirty="0" err="1">
                <a:solidFill>
                  <a:srgbClr val="003078"/>
                </a:solidFill>
                <a:latin typeface="Arial"/>
                <a:cs typeface="Arial"/>
              </a:rPr>
              <a:t>الضغط</a:t>
            </a:r>
            <a:r>
              <a:rPr sz="32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3200" b="1" dirty="0" err="1">
                <a:solidFill>
                  <a:srgbClr val="003078"/>
                </a:solidFill>
                <a:latin typeface="Arial"/>
                <a:cs typeface="Arial"/>
              </a:rPr>
              <a:t>وتتحسّن</a:t>
            </a:r>
            <a:endParaRPr sz="3200" b="1" dirty="0">
              <a:solidFill>
                <a:srgbClr val="003078"/>
              </a:solidFill>
              <a:latin typeface="Arial"/>
              <a:cs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3246120" cy="3840480"/>
          </a:xfrm>
          <a:prstGeom prst="roundRect">
            <a:avLst>
              <a:gd name="adj" fmla="val 4507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0" name="Photo Phone Call" descr="student on a phone ca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31720"/>
            <a:ext cx="3246120" cy="3840480"/>
          </a:xfrm>
          <a:prstGeom prst="roundRect">
            <a:avLst>
              <a:gd name="adj" fmla="val 4507"/>
            </a:avLst>
          </a:prstGeom>
        </p:spPr>
      </p:pic>
      <p:sp>
        <p:nvSpPr>
          <p:cNvPr id="27" name="Rounded Rectangle 26"/>
          <p:cNvSpPr/>
          <p:nvPr/>
        </p:nvSpPr>
        <p:spPr>
          <a:xfrm>
            <a:off x="1211580" y="53035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11580" y="5452745"/>
            <a:ext cx="1920240" cy="204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rial"/>
                <a:cs typeface="Arial"/>
              </a:rPr>
              <a:t>42 مكالمة خاصة</a:t>
            </a:r>
          </a:p>
        </p:txBody>
      </p:sp>
      <p:sp>
        <p:nvSpPr>
          <p:cNvPr id="40" name="Definition"/>
          <p:cNvSpPr txBox="1"/>
          <p:nvPr/>
        </p:nvSpPr>
        <p:spPr>
          <a:xfrm>
            <a:off x="3634735" y="1764001"/>
            <a:ext cx="6949440" cy="682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b="1" dirty="0" err="1">
                <a:latin typeface="Arial"/>
                <a:cs typeface="Arial"/>
              </a:rPr>
              <a:t>مكالمة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dirty="0" err="1">
                <a:latin typeface="Arial"/>
                <a:cs typeface="Arial"/>
              </a:rPr>
              <a:t>تليفون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dirty="0" err="1">
                <a:latin typeface="Arial"/>
                <a:cs typeface="Arial"/>
              </a:rPr>
              <a:t>فردية</a:t>
            </a:r>
            <a:r>
              <a:rPr b="1" dirty="0">
                <a:latin typeface="Arial"/>
                <a:cs typeface="Arial"/>
              </a:rPr>
              <a:t> — 10 </a:t>
            </a:r>
            <a:r>
              <a:rPr b="1" dirty="0" err="1">
                <a:latin typeface="Arial"/>
                <a:cs typeface="Arial"/>
              </a:rPr>
              <a:t>دقايق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dirty="0" err="1">
                <a:latin typeface="Arial"/>
                <a:cs typeface="Arial"/>
              </a:rPr>
              <a:t>مع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dirty="0" err="1">
                <a:latin typeface="Arial"/>
                <a:cs typeface="Arial"/>
              </a:rPr>
              <a:t>مدرّبك</a:t>
            </a:r>
            <a:r>
              <a:rPr b="1" dirty="0">
                <a:latin typeface="Arial"/>
                <a:cs typeface="Arial"/>
              </a:rPr>
              <a:t>، </a:t>
            </a:r>
            <a:r>
              <a:rPr b="1" dirty="0" err="1">
                <a:latin typeface="Arial"/>
                <a:cs typeface="Arial"/>
              </a:rPr>
              <a:t>من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dirty="0" err="1">
                <a:latin typeface="Arial"/>
                <a:cs typeface="Arial"/>
              </a:rPr>
              <a:t>غير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dirty="0" err="1">
                <a:latin typeface="Arial"/>
                <a:cs typeface="Arial"/>
              </a:rPr>
              <a:t>أي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dirty="0" err="1">
                <a:latin typeface="Arial"/>
                <a:cs typeface="Arial"/>
              </a:rPr>
              <a:t>تحضير</a:t>
            </a:r>
            <a:r>
              <a:rPr b="1" dirty="0">
                <a:latin typeface="Arial"/>
                <a:cs typeface="Arial"/>
              </a:rPr>
              <a:t>، </a:t>
            </a:r>
            <a:br>
              <a:rPr lang="en-US" b="1" dirty="0">
                <a:solidFill>
                  <a:srgbClr val="5B6472"/>
                </a:solidFill>
                <a:latin typeface="Arial"/>
                <a:cs typeface="Arial"/>
              </a:rPr>
            </a:br>
            <a:r>
              <a:rPr lang="en-US" b="1" dirty="0">
                <a:solidFill>
                  <a:srgbClr val="FF0000"/>
                </a:solidFill>
                <a:latin typeface="Arial"/>
                <a:cs typeface="Arial"/>
              </a:rPr>
              <a:t>                    </a:t>
            </a:r>
            <a:r>
              <a:rPr b="1" dirty="0" err="1">
                <a:solidFill>
                  <a:srgbClr val="FF0000"/>
                </a:solidFill>
                <a:latin typeface="Arial"/>
                <a:cs typeface="Arial"/>
              </a:rPr>
              <a:t>وفي</a:t>
            </a:r>
            <a:r>
              <a:rPr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FF0000"/>
                </a:solidFill>
                <a:latin typeface="Arial"/>
                <a:cs typeface="Arial"/>
              </a:rPr>
              <a:t>آخرها</a:t>
            </a:r>
            <a:r>
              <a:rPr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FF0000"/>
                </a:solidFill>
                <a:latin typeface="Arial"/>
                <a:cs typeface="Arial"/>
              </a:rPr>
              <a:t>فيدباك</a:t>
            </a:r>
            <a:r>
              <a:rPr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FF0000"/>
                </a:solidFill>
                <a:latin typeface="Arial"/>
                <a:cs typeface="Arial"/>
              </a:rPr>
              <a:t>فوري</a:t>
            </a:r>
            <a:r>
              <a:rPr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FF0000"/>
                </a:solidFill>
                <a:latin typeface="Arial"/>
                <a:cs typeface="Arial"/>
              </a:rPr>
              <a:t>على</a:t>
            </a:r>
            <a:r>
              <a:rPr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FF0000"/>
                </a:solidFill>
                <a:latin typeface="Arial"/>
                <a:cs typeface="Arial"/>
              </a:rPr>
              <a:t>كلامك</a:t>
            </a:r>
            <a:r>
              <a:rPr b="1" dirty="0">
                <a:solidFill>
                  <a:srgbClr val="5B6472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41" name="Value Icon 1"/>
          <p:cNvSpPr/>
          <p:nvPr/>
        </p:nvSpPr>
        <p:spPr>
          <a:xfrm>
            <a:off x="10749960" y="2681841"/>
            <a:ext cx="360000" cy="360000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Value IconNum 1"/>
          <p:cNvSpPr txBox="1"/>
          <p:nvPr/>
        </p:nvSpPr>
        <p:spPr>
          <a:xfrm>
            <a:off x="10747080" y="2751009"/>
            <a:ext cx="36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43" name="Value Row 1"/>
          <p:cNvSpPr txBox="1"/>
          <p:nvPr/>
        </p:nvSpPr>
        <p:spPr>
          <a:xfrm>
            <a:off x="4067640" y="2776278"/>
            <a:ext cx="6409440" cy="3018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ترد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من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غير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تفكير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— </a:t>
            </a:r>
            <a:r>
              <a:rPr b="0" dirty="0" err="1">
                <a:latin typeface="Arial"/>
                <a:cs typeface="Arial"/>
              </a:rPr>
              <a:t>مفيش</a:t>
            </a:r>
            <a:r>
              <a:rPr b="0" dirty="0">
                <a:latin typeface="Arial"/>
                <a:cs typeface="Arial"/>
              </a:rPr>
              <a:t> </a:t>
            </a:r>
            <a:r>
              <a:rPr b="0" dirty="0" err="1">
                <a:latin typeface="Arial"/>
                <a:cs typeface="Arial"/>
              </a:rPr>
              <a:t>تحضير</a:t>
            </a:r>
            <a:r>
              <a:rPr b="0" dirty="0">
                <a:latin typeface="Arial"/>
                <a:cs typeface="Arial"/>
              </a:rPr>
              <a:t>، </a:t>
            </a:r>
            <a:r>
              <a:rPr b="0" dirty="0" err="1">
                <a:latin typeface="Arial"/>
                <a:cs typeface="Arial"/>
              </a:rPr>
              <a:t>فبتتعوّد</a:t>
            </a:r>
            <a:r>
              <a:rPr b="0" dirty="0">
                <a:latin typeface="Arial"/>
                <a:cs typeface="Arial"/>
              </a:rPr>
              <a:t> </a:t>
            </a:r>
            <a:r>
              <a:rPr b="0" dirty="0" err="1">
                <a:latin typeface="Arial"/>
                <a:cs typeface="Arial"/>
              </a:rPr>
              <a:t>تتكلم</a:t>
            </a:r>
            <a:r>
              <a:rPr b="0" dirty="0">
                <a:latin typeface="Arial"/>
                <a:cs typeface="Arial"/>
              </a:rPr>
              <a:t> </a:t>
            </a:r>
            <a:r>
              <a:rPr b="0" dirty="0" err="1">
                <a:latin typeface="Arial"/>
                <a:cs typeface="Arial"/>
              </a:rPr>
              <a:t>عفوي</a:t>
            </a:r>
            <a:r>
              <a:rPr b="0" dirty="0">
                <a:latin typeface="Arial"/>
                <a:cs typeface="Arial"/>
              </a:rPr>
              <a:t> </a:t>
            </a:r>
            <a:r>
              <a:rPr b="0" dirty="0" err="1">
                <a:latin typeface="Arial"/>
                <a:cs typeface="Arial"/>
              </a:rPr>
              <a:t>زي</a:t>
            </a:r>
            <a:r>
              <a:rPr b="0" dirty="0">
                <a:latin typeface="Arial"/>
                <a:cs typeface="Arial"/>
              </a:rPr>
              <a:t> </a:t>
            </a:r>
            <a:r>
              <a:rPr b="0" dirty="0" err="1">
                <a:latin typeface="Arial"/>
                <a:cs typeface="Arial"/>
              </a:rPr>
              <a:t>المواقف</a:t>
            </a:r>
            <a:r>
              <a:rPr b="0" dirty="0">
                <a:latin typeface="Arial"/>
                <a:cs typeface="Arial"/>
              </a:rPr>
              <a:t> </a:t>
            </a:r>
            <a:r>
              <a:rPr b="0" dirty="0" err="1">
                <a:latin typeface="Arial"/>
                <a:cs typeface="Arial"/>
              </a:rPr>
              <a:t>الحقيقية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44" name="Value Icon 2"/>
          <p:cNvSpPr/>
          <p:nvPr/>
        </p:nvSpPr>
        <p:spPr>
          <a:xfrm>
            <a:off x="10755720" y="3294484"/>
            <a:ext cx="360000" cy="360000"/>
          </a:xfrm>
          <a:prstGeom prst="ellipse">
            <a:avLst/>
          </a:prstGeom>
          <a:solidFill>
            <a:srgbClr val="D818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Value IconNum 2"/>
          <p:cNvSpPr txBox="1"/>
          <p:nvPr/>
        </p:nvSpPr>
        <p:spPr>
          <a:xfrm>
            <a:off x="10750250" y="3310516"/>
            <a:ext cx="36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46" name="Value Row 2"/>
          <p:cNvSpPr txBox="1"/>
          <p:nvPr/>
        </p:nvSpPr>
        <p:spPr>
          <a:xfrm>
            <a:off x="4146804" y="3384078"/>
            <a:ext cx="6409440" cy="3018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كلام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تحت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3078"/>
                </a:solidFill>
                <a:latin typeface="Arial"/>
                <a:cs typeface="Arial"/>
              </a:rPr>
              <a:t>ضغط</a:t>
            </a:r>
            <a:r>
              <a:rPr b="1" dirty="0">
                <a:solidFill>
                  <a:srgbClr val="003078"/>
                </a:solidFill>
                <a:latin typeface="Arial"/>
                <a:cs typeface="Arial"/>
              </a:rPr>
              <a:t> — </a:t>
            </a:r>
            <a:r>
              <a:rPr b="0" dirty="0" err="1">
                <a:latin typeface="Arial"/>
                <a:cs typeface="Arial"/>
              </a:rPr>
              <a:t>تدريب</a:t>
            </a:r>
            <a:r>
              <a:rPr b="0" dirty="0">
                <a:latin typeface="Arial"/>
                <a:cs typeface="Arial"/>
              </a:rPr>
              <a:t> </a:t>
            </a:r>
            <a:r>
              <a:rPr b="0" dirty="0" err="1">
                <a:latin typeface="Arial"/>
                <a:cs typeface="Arial"/>
              </a:rPr>
              <a:t>عملي</a:t>
            </a:r>
            <a:r>
              <a:rPr b="0" dirty="0">
                <a:latin typeface="Arial"/>
                <a:cs typeface="Arial"/>
              </a:rPr>
              <a:t> </a:t>
            </a:r>
            <a:r>
              <a:rPr b="0" dirty="0" err="1">
                <a:latin typeface="Arial"/>
                <a:cs typeface="Arial"/>
              </a:rPr>
              <a:t>للانترفيوهات</a:t>
            </a:r>
            <a:r>
              <a:rPr b="0" dirty="0">
                <a:latin typeface="Arial"/>
                <a:cs typeface="Arial"/>
              </a:rPr>
              <a:t> </a:t>
            </a:r>
            <a:r>
              <a:rPr b="0" dirty="0" err="1">
                <a:latin typeface="Arial"/>
                <a:cs typeface="Arial"/>
              </a:rPr>
              <a:t>والميتنجات</a:t>
            </a:r>
            <a:r>
              <a:rPr b="0" dirty="0">
                <a:latin typeface="Arial"/>
                <a:cs typeface="Arial"/>
              </a:rPr>
              <a:t> </a:t>
            </a:r>
            <a:r>
              <a:rPr b="0" dirty="0" err="1">
                <a:latin typeface="Arial"/>
                <a:cs typeface="Arial"/>
              </a:rPr>
              <a:t>ومكالمات</a:t>
            </a:r>
            <a:r>
              <a:rPr b="0" dirty="0">
                <a:latin typeface="Arial"/>
                <a:cs typeface="Arial"/>
              </a:rPr>
              <a:t> </a:t>
            </a:r>
            <a:r>
              <a:rPr b="0" dirty="0" err="1">
                <a:latin typeface="Arial"/>
                <a:cs typeface="Arial"/>
              </a:rPr>
              <a:t>الشغل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50" name="Policy Card"/>
          <p:cNvSpPr/>
          <p:nvPr/>
        </p:nvSpPr>
        <p:spPr>
          <a:xfrm>
            <a:off x="4067640" y="4694089"/>
            <a:ext cx="7881140" cy="206362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19050">
            <a:solidFill>
              <a:srgbClr val="D9DEE6"/>
            </a:solidFill>
          </a:ln>
          <a:effectLst/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51" name="Policy Pill"/>
          <p:cNvSpPr/>
          <p:nvPr/>
        </p:nvSpPr>
        <p:spPr>
          <a:xfrm>
            <a:off x="9458964" y="4141473"/>
            <a:ext cx="2194560" cy="512064"/>
          </a:xfrm>
          <a:prstGeom prst="roundRect">
            <a:avLst>
              <a:gd name="adj" fmla="val 50000"/>
            </a:avLst>
          </a:prstGeom>
          <a:solidFill>
            <a:srgbClr val="D81818"/>
          </a:solidFill>
          <a:ln>
            <a:noFill/>
          </a:ln>
          <a:effectLst/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52" name="Policy Pill Label"/>
          <p:cNvSpPr txBox="1"/>
          <p:nvPr/>
        </p:nvSpPr>
        <p:spPr>
          <a:xfrm>
            <a:off x="9523973" y="4282931"/>
            <a:ext cx="2194560" cy="217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350" b="1" dirty="0" err="1">
                <a:solidFill>
                  <a:srgbClr val="FFFFFF"/>
                </a:solidFill>
                <a:latin typeface="Arial"/>
                <a:cs typeface="Arial"/>
              </a:rPr>
              <a:t>السياسة</a:t>
            </a:r>
            <a:r>
              <a:rPr sz="135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  <a:cs typeface="Arial"/>
              </a:rPr>
              <a:t>المرتبطة</a:t>
            </a:r>
            <a:endParaRPr sz="135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3" name="Policy Badge 1"/>
          <p:cNvSpPr/>
          <p:nvPr/>
        </p:nvSpPr>
        <p:spPr>
          <a:xfrm>
            <a:off x="10858306" y="5058288"/>
            <a:ext cx="300000" cy="300000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54" name="Policy BadgeNum 1"/>
          <p:cNvSpPr txBox="1"/>
          <p:nvPr/>
        </p:nvSpPr>
        <p:spPr>
          <a:xfrm>
            <a:off x="10858306" y="5101644"/>
            <a:ext cx="3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5" name="Policy Text 1"/>
          <p:cNvSpPr txBox="1"/>
          <p:nvPr/>
        </p:nvSpPr>
        <p:spPr>
          <a:xfrm>
            <a:off x="4708253" y="4788839"/>
            <a:ext cx="5809440" cy="926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ميعاد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المكالمة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بتحدده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الأكاديمية</a:t>
            </a:r>
            <a:r>
              <a:rPr lang="ar-SA" sz="1600" b="1" dirty="0">
                <a:solidFill>
                  <a:srgbClr val="1D2532"/>
                </a:solidFill>
                <a:latin typeface="Arial"/>
                <a:cs typeface="Arial"/>
              </a:rPr>
              <a:t> فقط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—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وثابت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مايتغيرش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في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أي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مستوى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.</a:t>
            </a:r>
          </a:p>
          <a:p>
            <a:pPr algn="r" rtl="1">
              <a:lnSpc>
                <a:spcPct val="130000"/>
              </a:lnSpc>
            </a:pP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ليه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؟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عشان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المكالمة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10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دقايق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F0000"/>
                </a:solidFill>
                <a:latin typeface="Arial"/>
                <a:cs typeface="Arial"/>
              </a:rPr>
              <a:t>مركّزة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ar-SA" sz="1600" dirty="0">
                <a:solidFill>
                  <a:srgbClr val="FF0000"/>
                </a:solidFill>
                <a:latin typeface="Arial"/>
                <a:cs typeface="Arial"/>
              </a:rPr>
              <a:t>، </a:t>
            </a:r>
            <a:r>
              <a:rPr lang="ar-SA" sz="1600" dirty="0" err="1">
                <a:solidFill>
                  <a:srgbClr val="FF0000"/>
                </a:solidFill>
                <a:latin typeface="Arial"/>
                <a:cs typeface="Arial"/>
              </a:rPr>
              <a:t>الاكاديميه</a:t>
            </a:r>
            <a:r>
              <a:rPr lang="ar-SA" sz="1600" dirty="0">
                <a:solidFill>
                  <a:srgbClr val="FF0000"/>
                </a:solidFill>
                <a:latin typeface="Arial"/>
                <a:cs typeface="Arial"/>
              </a:rPr>
              <a:t> مش </a:t>
            </a:r>
            <a:r>
              <a:rPr lang="ar-SA" sz="1600" dirty="0" err="1">
                <a:solidFill>
                  <a:srgbClr val="FF0000"/>
                </a:solidFill>
                <a:latin typeface="Arial"/>
                <a:cs typeface="Arial"/>
              </a:rPr>
              <a:t>هيكون</a:t>
            </a:r>
            <a:r>
              <a:rPr lang="ar-SA" sz="1600" dirty="0">
                <a:solidFill>
                  <a:srgbClr val="FF0000"/>
                </a:solidFill>
                <a:latin typeface="Arial"/>
                <a:cs typeface="Arial"/>
              </a:rPr>
              <a:t> عندها امكانيه انها تخلي </a:t>
            </a:r>
            <a:r>
              <a:rPr lang="en-US" sz="1600" dirty="0">
                <a:solidFill>
                  <a:srgbClr val="FF0000"/>
                </a:solidFill>
                <a:latin typeface="Arial"/>
                <a:cs typeface="Arial"/>
              </a:rPr>
              <a:t>10 </a:t>
            </a:r>
            <a:r>
              <a:rPr lang="ar-SA" sz="1600" dirty="0" err="1">
                <a:solidFill>
                  <a:srgbClr val="FF0000"/>
                </a:solidFill>
                <a:latin typeface="Arial"/>
                <a:cs typeface="Arial"/>
              </a:rPr>
              <a:t>دقايق</a:t>
            </a:r>
            <a:r>
              <a:rPr lang="ar-SA" sz="1600" dirty="0">
                <a:solidFill>
                  <a:srgbClr val="FF0000"/>
                </a:solidFill>
                <a:latin typeface="Arial"/>
                <a:cs typeface="Arial"/>
              </a:rPr>
              <a:t> علي حسب وقت الطالب </a:t>
            </a:r>
            <a:endParaRPr sz="1600" b="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6" name="Policy Badge 2"/>
          <p:cNvSpPr/>
          <p:nvPr/>
        </p:nvSpPr>
        <p:spPr>
          <a:xfrm>
            <a:off x="10899083" y="5917927"/>
            <a:ext cx="300000" cy="300000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57" name="Policy BadgeNum 2"/>
          <p:cNvSpPr txBox="1"/>
          <p:nvPr/>
        </p:nvSpPr>
        <p:spPr>
          <a:xfrm>
            <a:off x="10927080" y="5957998"/>
            <a:ext cx="3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58" name="Policy Text 2"/>
          <p:cNvSpPr txBox="1"/>
          <p:nvPr/>
        </p:nvSpPr>
        <p:spPr>
          <a:xfrm>
            <a:off x="4604693" y="5860660"/>
            <a:ext cx="6016560" cy="57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المكالمة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بتتسجل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على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موقع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الأكاديمية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ومتاحة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لمدة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1D2532"/>
                </a:solidFill>
                <a:latin typeface="Arial"/>
                <a:cs typeface="Arial"/>
              </a:rPr>
              <a:t>أسبوعين</a:t>
            </a:r>
            <a:r>
              <a:rPr sz="1600" b="1" dirty="0">
                <a:solidFill>
                  <a:srgbClr val="1D2532"/>
                </a:solidFill>
                <a:latin typeface="Arial"/>
                <a:cs typeface="Arial"/>
              </a:rPr>
              <a:t> —.</a:t>
            </a:r>
          </a:p>
          <a:p>
            <a:pPr algn="r" rtl="1">
              <a:lnSpc>
                <a:spcPct val="130000"/>
              </a:lnSpc>
            </a:pPr>
            <a:r>
              <a:rPr sz="1400" b="1" dirty="0" err="1">
                <a:solidFill>
                  <a:srgbClr val="FF0000"/>
                </a:solidFill>
                <a:latin typeface="Arial"/>
                <a:cs typeface="Arial"/>
              </a:rPr>
              <a:t>لو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Arial"/>
                <a:cs typeface="Arial"/>
              </a:rPr>
              <a:t>غبت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Arial"/>
                <a:cs typeface="Arial"/>
              </a:rPr>
              <a:t>لأي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Arial"/>
                <a:cs typeface="Arial"/>
              </a:rPr>
              <a:t>سبب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: </a:t>
            </a:r>
            <a:r>
              <a:rPr sz="1400" b="1" dirty="0" err="1">
                <a:solidFill>
                  <a:srgbClr val="FF0000"/>
                </a:solidFill>
                <a:latin typeface="Arial"/>
                <a:cs typeface="Arial"/>
              </a:rPr>
              <a:t>بديلك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Arial"/>
                <a:cs typeface="Arial"/>
              </a:rPr>
              <a:t>الوحيد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Arial"/>
                <a:cs typeface="Arial"/>
              </a:rPr>
              <a:t>هو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Arial"/>
                <a:cs typeface="Arial"/>
              </a:rPr>
              <a:t>الرجوع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Arial"/>
                <a:cs typeface="Arial"/>
              </a:rPr>
              <a:t>للتسجيل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Arial"/>
                <a:cs typeface="Arial"/>
              </a:rPr>
              <a:t>خلال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Arial"/>
                <a:cs typeface="Arial"/>
              </a:rPr>
              <a:t>الأسبوعين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749808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7320" y="642620"/>
            <a:ext cx="4023360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10000"/>
              </a:lnSpc>
            </a:pPr>
            <a:r>
              <a:rPr sz="1600" b="1">
                <a:solidFill>
                  <a:srgbClr val="003078"/>
                </a:solidFill>
                <a:latin typeface="Arial"/>
                <a:cs typeface="Arial"/>
              </a:rPr>
              <a:t>أكاديمية أحمد حسن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957402"/>
            <a:ext cx="4023360" cy="166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950" b="0">
                <a:solidFill>
                  <a:srgbClr val="5B6472"/>
                </a:solidFill>
                <a:latin typeface="Arial"/>
                <a:cs typeface="Arial"/>
              </a:rPr>
              <a:t>English with Ahmed Hassan</a:t>
            </a:r>
          </a:p>
        </p:txBody>
      </p:sp>
      <p:sp>
        <p:nvSpPr>
          <p:cNvPr id="5" name="Oval 4"/>
          <p:cNvSpPr/>
          <p:nvPr/>
        </p:nvSpPr>
        <p:spPr>
          <a:xfrm>
            <a:off x="10927080" y="384048"/>
            <a:ext cx="786384" cy="786384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561340"/>
            <a:ext cx="786384" cy="47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742440"/>
            <a:ext cx="6720840" cy="401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2500" b="1">
                <a:solidFill>
                  <a:srgbClr val="003078"/>
                </a:solidFill>
                <a:latin typeface="Arial"/>
                <a:cs typeface="Arial"/>
              </a:rPr>
              <a:t>الفيدباك… هو السر الحقيقي للتقدّم</a:t>
            </a:r>
          </a:p>
        </p:txBody>
      </p:sp>
      <p:pic>
        <p:nvPicPr>
          <p:cNvPr id="60" name="Photo Feedback" descr="teacher giving feedba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31720"/>
            <a:ext cx="3246120" cy="3840480"/>
          </a:xfrm>
          <a:prstGeom prst="roundRect">
            <a:avLst>
              <a:gd name="adj" fmla="val 4507"/>
            </a:avLst>
          </a:prstGeom>
        </p:spPr>
      </p:pic>
      <p:sp>
        <p:nvSpPr>
          <p:cNvPr id="61" name="Feedback Pill"/>
          <p:cNvSpPr/>
          <p:nvPr/>
        </p:nvSpPr>
        <p:spPr>
          <a:xfrm>
            <a:off x="1071700" y="5560000"/>
            <a:ext cx="2200000" cy="457200"/>
          </a:xfrm>
          <a:prstGeom prst="roundRect">
            <a:avLst>
              <a:gd name="adj" fmla="val 50000"/>
            </a:avLst>
          </a:prstGeom>
          <a:solidFill>
            <a:srgbClr val="D818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Feedback Pill Text"/>
          <p:cNvSpPr txBox="1"/>
          <p:nvPr/>
        </p:nvSpPr>
        <p:spPr>
          <a:xfrm>
            <a:off x="1071700" y="5690000"/>
            <a:ext cx="2200000" cy="2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  <a:cs typeface="Arial"/>
              </a:rPr>
              <a:t>+120‏ نقطة فيدباك في رحلتك</a:t>
            </a:r>
          </a:p>
        </p:txBody>
      </p:sp>
      <p:sp>
        <p:nvSpPr>
          <p:cNvPr id="63" name="Intro"/>
          <p:cNvSpPr txBox="1"/>
          <p:nvPr/>
        </p:nvSpPr>
        <p:spPr>
          <a:xfrm>
            <a:off x="4160520" y="2280000"/>
            <a:ext cx="694944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00" b="0">
                <a:solidFill>
                  <a:srgbClr val="5B6472"/>
                </a:solidFill>
                <a:latin typeface="Arial"/>
                <a:cs typeface="Arial"/>
              </a:rPr>
              <a:t>بتتكلم كتير معانا… لكن اللي بيخليك تتكلم </a:t>
            </a:r>
            <a:r>
              <a:rPr sz="1400" b="1">
                <a:solidFill>
                  <a:srgbClr val="003078"/>
                </a:solidFill>
                <a:latin typeface="Arial"/>
                <a:cs typeface="Arial"/>
              </a:rPr>
              <a:t>صح</a:t>
            </a:r>
            <a:r>
              <a:rPr sz="1400" b="0">
                <a:solidFill>
                  <a:srgbClr val="5B6472"/>
                </a:solidFill>
                <a:latin typeface="Arial"/>
                <a:cs typeface="Arial"/>
              </a:rPr>
              <a:t> هو الفيدباك اليومي بعد كل جلسة ومكالمة وتاسك.</a:t>
            </a:r>
          </a:p>
        </p:txBody>
      </p:sp>
      <p:sp>
        <p:nvSpPr>
          <p:cNvPr id="64" name="FB Card 1"/>
          <p:cNvSpPr/>
          <p:nvPr/>
        </p:nvSpPr>
        <p:spPr>
          <a:xfrm>
            <a:off x="7710240" y="3050000"/>
            <a:ext cx="3399720" cy="135000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19050">
            <a:solidFill>
              <a:srgbClr val="D9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FB Badge 1"/>
          <p:cNvSpPr/>
          <p:nvPr/>
        </p:nvSpPr>
        <p:spPr>
          <a:xfrm>
            <a:off x="10549960" y="3250000"/>
            <a:ext cx="340000" cy="340000"/>
          </a:xfrm>
          <a:prstGeom prst="ellipse">
            <a:avLst/>
          </a:prstGeom>
          <a:solidFill>
            <a:srgbClr val="D818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FB BadgeNum 1"/>
          <p:cNvSpPr txBox="1"/>
          <p:nvPr/>
        </p:nvSpPr>
        <p:spPr>
          <a:xfrm>
            <a:off x="10549960" y="3315000"/>
            <a:ext cx="34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7" name="FB Head 1"/>
          <p:cNvSpPr txBox="1"/>
          <p:nvPr/>
        </p:nvSpPr>
        <p:spPr>
          <a:xfrm>
            <a:off x="7910240" y="3280000"/>
            <a:ext cx="251972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1" dirty="0" err="1">
                <a:solidFill>
                  <a:srgbClr val="003078"/>
                </a:solidFill>
                <a:latin typeface="Arial"/>
                <a:cs typeface="Arial"/>
              </a:rPr>
              <a:t>من</a:t>
            </a:r>
            <a:r>
              <a:rPr sz="125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1250" b="1" dirty="0" err="1">
                <a:solidFill>
                  <a:srgbClr val="003078"/>
                </a:solidFill>
                <a:latin typeface="Arial"/>
                <a:cs typeface="Arial"/>
              </a:rPr>
              <a:t>غير</a:t>
            </a:r>
            <a:r>
              <a:rPr sz="125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1250" b="1" dirty="0" err="1">
                <a:solidFill>
                  <a:srgbClr val="003078"/>
                </a:solidFill>
                <a:latin typeface="Arial"/>
                <a:cs typeface="Arial"/>
              </a:rPr>
              <a:t>فيدباك</a:t>
            </a:r>
            <a:r>
              <a:rPr sz="1250" b="1" dirty="0">
                <a:solidFill>
                  <a:srgbClr val="003078"/>
                </a:solidFill>
                <a:latin typeface="Arial"/>
                <a:cs typeface="Arial"/>
              </a:rPr>
              <a:t>… </a:t>
            </a:r>
            <a:r>
              <a:rPr sz="1250" b="1" dirty="0" err="1">
                <a:solidFill>
                  <a:srgbClr val="003078"/>
                </a:solidFill>
                <a:latin typeface="Arial"/>
                <a:cs typeface="Arial"/>
              </a:rPr>
              <a:t>بتكرر</a:t>
            </a:r>
            <a:r>
              <a:rPr sz="125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1250" b="1" dirty="0" err="1">
                <a:solidFill>
                  <a:srgbClr val="003078"/>
                </a:solidFill>
                <a:latin typeface="Arial"/>
                <a:cs typeface="Arial"/>
              </a:rPr>
              <a:t>نفس</a:t>
            </a:r>
            <a:r>
              <a:rPr sz="125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1250" b="1" dirty="0" err="1">
                <a:solidFill>
                  <a:srgbClr val="003078"/>
                </a:solidFill>
                <a:latin typeface="Arial"/>
                <a:cs typeface="Arial"/>
              </a:rPr>
              <a:t>الأخطاء</a:t>
            </a:r>
            <a:endParaRPr sz="1250" b="1" dirty="0">
              <a:solidFill>
                <a:srgbClr val="003078"/>
              </a:solidFill>
              <a:latin typeface="Arial"/>
              <a:cs typeface="Arial"/>
            </a:endParaRPr>
          </a:p>
        </p:txBody>
      </p:sp>
      <p:sp>
        <p:nvSpPr>
          <p:cNvPr id="68" name="FB Desc 1"/>
          <p:cNvSpPr txBox="1"/>
          <p:nvPr/>
        </p:nvSpPr>
        <p:spPr>
          <a:xfrm>
            <a:off x="7910240" y="3850000"/>
            <a:ext cx="299972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050" b="0">
                <a:solidFill>
                  <a:srgbClr val="5B6472"/>
                </a:solidFill>
                <a:latin typeface="Arial"/>
                <a:cs typeface="Arial"/>
              </a:rPr>
              <a:t>الممارسة لوحدها مش كفاية — الفيدباك هو اللي بيحوّل الكلام لتقدّم حقيقي.</a:t>
            </a:r>
          </a:p>
        </p:txBody>
      </p:sp>
      <p:sp>
        <p:nvSpPr>
          <p:cNvPr id="69" name="FB Card 2"/>
          <p:cNvSpPr/>
          <p:nvPr/>
        </p:nvSpPr>
        <p:spPr>
          <a:xfrm>
            <a:off x="4160520" y="3050000"/>
            <a:ext cx="3399720" cy="135000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19050">
            <a:solidFill>
              <a:srgbClr val="D9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FB Badge 2"/>
          <p:cNvSpPr/>
          <p:nvPr/>
        </p:nvSpPr>
        <p:spPr>
          <a:xfrm>
            <a:off x="7000240" y="3250000"/>
            <a:ext cx="340000" cy="340000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FB BadgeNum 2"/>
          <p:cNvSpPr txBox="1"/>
          <p:nvPr/>
        </p:nvSpPr>
        <p:spPr>
          <a:xfrm>
            <a:off x="7000240" y="3315000"/>
            <a:ext cx="34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72" name="FB Head 2"/>
          <p:cNvSpPr txBox="1"/>
          <p:nvPr/>
        </p:nvSpPr>
        <p:spPr>
          <a:xfrm>
            <a:off x="4360520" y="3280000"/>
            <a:ext cx="251972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1" dirty="0" err="1">
                <a:solidFill>
                  <a:srgbClr val="003078"/>
                </a:solidFill>
                <a:latin typeface="Arial"/>
                <a:cs typeface="Arial"/>
              </a:rPr>
              <a:t>بيمنع</a:t>
            </a:r>
            <a:r>
              <a:rPr sz="125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1250" b="1" dirty="0" err="1">
                <a:solidFill>
                  <a:srgbClr val="003078"/>
                </a:solidFill>
                <a:latin typeface="Arial"/>
                <a:cs typeface="Arial"/>
              </a:rPr>
              <a:t>الغلط</a:t>
            </a:r>
            <a:r>
              <a:rPr sz="125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1250" b="1" dirty="0" err="1">
                <a:solidFill>
                  <a:srgbClr val="003078"/>
                </a:solidFill>
                <a:latin typeface="Arial"/>
                <a:cs typeface="Arial"/>
              </a:rPr>
              <a:t>يبقى</a:t>
            </a:r>
            <a:r>
              <a:rPr sz="125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1250" b="1" dirty="0" err="1">
                <a:solidFill>
                  <a:srgbClr val="003078"/>
                </a:solidFill>
                <a:latin typeface="Arial"/>
                <a:cs typeface="Arial"/>
              </a:rPr>
              <a:t>عادة</a:t>
            </a:r>
            <a:endParaRPr sz="1250" b="1" dirty="0">
              <a:solidFill>
                <a:srgbClr val="003078"/>
              </a:solidFill>
              <a:latin typeface="Arial"/>
              <a:cs typeface="Arial"/>
            </a:endParaRPr>
          </a:p>
        </p:txBody>
      </p:sp>
      <p:sp>
        <p:nvSpPr>
          <p:cNvPr id="73" name="FB Desc 2"/>
          <p:cNvSpPr txBox="1"/>
          <p:nvPr/>
        </p:nvSpPr>
        <p:spPr>
          <a:xfrm>
            <a:off x="4360520" y="3850000"/>
            <a:ext cx="299972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050" b="0" dirty="0" err="1">
                <a:solidFill>
                  <a:srgbClr val="5B6472"/>
                </a:solidFill>
                <a:latin typeface="Arial"/>
                <a:cs typeface="Arial"/>
              </a:rPr>
              <a:t>الغلطة</a:t>
            </a:r>
            <a:r>
              <a:rPr sz="105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Arial"/>
                <a:cs typeface="Arial"/>
              </a:rPr>
              <a:t>اللي</a:t>
            </a:r>
            <a:r>
              <a:rPr sz="105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Arial"/>
                <a:cs typeface="Arial"/>
              </a:rPr>
              <a:t>بتتصحح</a:t>
            </a:r>
            <a:r>
              <a:rPr sz="105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Arial"/>
                <a:cs typeface="Arial"/>
              </a:rPr>
              <a:t>بدري</a:t>
            </a:r>
            <a:r>
              <a:rPr sz="105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Arial"/>
                <a:cs typeface="Arial"/>
              </a:rPr>
              <a:t>مبتثبتش</a:t>
            </a:r>
            <a:r>
              <a:rPr sz="105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Arial"/>
                <a:cs typeface="Arial"/>
              </a:rPr>
              <a:t>في</a:t>
            </a:r>
            <a:r>
              <a:rPr sz="105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Arial"/>
                <a:cs typeface="Arial"/>
              </a:rPr>
              <a:t>لسانك</a:t>
            </a:r>
            <a:r>
              <a:rPr sz="1050" b="0" dirty="0">
                <a:solidFill>
                  <a:srgbClr val="5B6472"/>
                </a:solidFill>
                <a:latin typeface="Arial"/>
                <a:cs typeface="Arial"/>
              </a:rPr>
              <a:t> — </a:t>
            </a:r>
            <a:r>
              <a:rPr sz="1050" b="0" dirty="0" err="1">
                <a:solidFill>
                  <a:srgbClr val="5B6472"/>
                </a:solidFill>
                <a:latin typeface="Arial"/>
                <a:cs typeface="Arial"/>
              </a:rPr>
              <a:t>قبل</a:t>
            </a:r>
            <a:r>
              <a:rPr sz="105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Arial"/>
                <a:cs typeface="Arial"/>
              </a:rPr>
              <a:t>ما</a:t>
            </a:r>
            <a:r>
              <a:rPr sz="105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Arial"/>
                <a:cs typeface="Arial"/>
              </a:rPr>
              <a:t>يبقى</a:t>
            </a:r>
            <a:r>
              <a:rPr sz="105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Arial"/>
                <a:cs typeface="Arial"/>
              </a:rPr>
              <a:t>صعب</a:t>
            </a:r>
            <a:r>
              <a:rPr sz="1050"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Arial"/>
                <a:cs typeface="Arial"/>
              </a:rPr>
              <a:t>تغييرها</a:t>
            </a:r>
            <a:r>
              <a:rPr sz="1050" b="0" dirty="0">
                <a:solidFill>
                  <a:srgbClr val="5B6472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74" name="FB Card 3"/>
          <p:cNvSpPr/>
          <p:nvPr/>
        </p:nvSpPr>
        <p:spPr>
          <a:xfrm>
            <a:off x="7710240" y="4550000"/>
            <a:ext cx="3399720" cy="135000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19050">
            <a:solidFill>
              <a:srgbClr val="D9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FB Badge 3"/>
          <p:cNvSpPr/>
          <p:nvPr/>
        </p:nvSpPr>
        <p:spPr>
          <a:xfrm>
            <a:off x="10549960" y="4750000"/>
            <a:ext cx="340000" cy="340000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FB BadgeNum 3"/>
          <p:cNvSpPr txBox="1"/>
          <p:nvPr/>
        </p:nvSpPr>
        <p:spPr>
          <a:xfrm>
            <a:off x="10549960" y="4815000"/>
            <a:ext cx="34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77" name="FB Head 3"/>
          <p:cNvSpPr txBox="1"/>
          <p:nvPr/>
        </p:nvSpPr>
        <p:spPr>
          <a:xfrm>
            <a:off x="7910240" y="4780000"/>
            <a:ext cx="251972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1">
                <a:solidFill>
                  <a:srgbClr val="003078"/>
                </a:solidFill>
                <a:latin typeface="Arial"/>
                <a:cs typeface="Arial"/>
              </a:rPr>
              <a:t>بتلاحظ وتسمع الفرق</a:t>
            </a:r>
          </a:p>
        </p:txBody>
      </p:sp>
      <p:sp>
        <p:nvSpPr>
          <p:cNvPr id="78" name="FB Desc 3"/>
          <p:cNvSpPr txBox="1"/>
          <p:nvPr/>
        </p:nvSpPr>
        <p:spPr>
          <a:xfrm>
            <a:off x="7910240" y="5350000"/>
            <a:ext cx="299972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050" b="0">
                <a:solidFill>
                  <a:srgbClr val="5B6472"/>
                </a:solidFill>
                <a:latin typeface="Arial"/>
                <a:cs typeface="Arial"/>
              </a:rPr>
              <a:t>بتشوف المسافة بين اللي قلته والصح — ودي أسرع طريقة يتطور بيها كلامك.</a:t>
            </a:r>
          </a:p>
        </p:txBody>
      </p:sp>
      <p:sp>
        <p:nvSpPr>
          <p:cNvPr id="79" name="FB Card 4"/>
          <p:cNvSpPr/>
          <p:nvPr/>
        </p:nvSpPr>
        <p:spPr>
          <a:xfrm>
            <a:off x="4160520" y="4550000"/>
            <a:ext cx="3399720" cy="135000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19050">
            <a:solidFill>
              <a:srgbClr val="D9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FB Badge 4"/>
          <p:cNvSpPr/>
          <p:nvPr/>
        </p:nvSpPr>
        <p:spPr>
          <a:xfrm>
            <a:off x="7000240" y="4750000"/>
            <a:ext cx="340000" cy="340000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FB BadgeNum 4"/>
          <p:cNvSpPr txBox="1"/>
          <p:nvPr/>
        </p:nvSpPr>
        <p:spPr>
          <a:xfrm>
            <a:off x="7000240" y="4815000"/>
            <a:ext cx="34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82" name="FB Head 4"/>
          <p:cNvSpPr txBox="1"/>
          <p:nvPr/>
        </p:nvSpPr>
        <p:spPr>
          <a:xfrm>
            <a:off x="4360520" y="4780000"/>
            <a:ext cx="251972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1">
                <a:solidFill>
                  <a:srgbClr val="003078"/>
                </a:solidFill>
                <a:latin typeface="Arial"/>
                <a:cs typeface="Arial"/>
              </a:rPr>
              <a:t>تقدّم أسرع وثقة أكبر</a:t>
            </a:r>
          </a:p>
        </p:txBody>
      </p:sp>
      <p:sp>
        <p:nvSpPr>
          <p:cNvPr id="83" name="FB Desc 4"/>
          <p:cNvSpPr txBox="1"/>
          <p:nvPr/>
        </p:nvSpPr>
        <p:spPr>
          <a:xfrm>
            <a:off x="4360520" y="5350000"/>
            <a:ext cx="299972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050" b="0">
                <a:solidFill>
                  <a:srgbClr val="5B6472"/>
                </a:solidFill>
                <a:latin typeface="Arial"/>
                <a:cs typeface="Arial"/>
              </a:rPr>
              <a:t>الأبحاث بتصنّف الفيدباك من أقوى العوامل اللي بتسرّع تعلم اللغة.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749808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7320" y="642620"/>
            <a:ext cx="4023360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10000"/>
              </a:lnSpc>
            </a:pPr>
            <a:r>
              <a:rPr sz="1600" b="1">
                <a:solidFill>
                  <a:srgbClr val="003078"/>
                </a:solidFill>
                <a:latin typeface="Arial"/>
                <a:cs typeface="Arial"/>
              </a:rPr>
              <a:t>أكاديمية أحمد حسن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932688"/>
            <a:ext cx="4023360" cy="166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950" b="0">
                <a:solidFill>
                  <a:srgbClr val="5B6472"/>
                </a:solidFill>
                <a:latin typeface="Arial"/>
                <a:cs typeface="Arial"/>
              </a:rPr>
              <a:t>English with Ahmed Hassan</a:t>
            </a:r>
          </a:p>
        </p:txBody>
      </p:sp>
      <p:sp>
        <p:nvSpPr>
          <p:cNvPr id="5" name="Oval 4"/>
          <p:cNvSpPr/>
          <p:nvPr/>
        </p:nvSpPr>
        <p:spPr>
          <a:xfrm>
            <a:off x="10927080" y="384048"/>
            <a:ext cx="786384" cy="786384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137392" y="614476"/>
            <a:ext cx="365760" cy="512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37392" y="742492"/>
            <a:ext cx="365760" cy="512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37392" y="870508"/>
            <a:ext cx="365760" cy="512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49580" y="958606"/>
            <a:ext cx="6720840" cy="45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2900" b="1" dirty="0" err="1">
                <a:solidFill>
                  <a:srgbClr val="003078"/>
                </a:solidFill>
                <a:latin typeface="Arial"/>
                <a:cs typeface="Arial"/>
              </a:rPr>
              <a:t>سياسات</a:t>
            </a:r>
            <a:r>
              <a:rPr sz="29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2900" b="1" dirty="0" err="1">
                <a:solidFill>
                  <a:srgbClr val="003078"/>
                </a:solidFill>
                <a:latin typeface="Arial"/>
                <a:cs typeface="Arial"/>
              </a:rPr>
              <a:t>واضحة</a:t>
            </a:r>
            <a:r>
              <a:rPr sz="2900" b="1" dirty="0">
                <a:solidFill>
                  <a:srgbClr val="003078"/>
                </a:solidFill>
                <a:latin typeface="Arial"/>
                <a:cs typeface="Arial"/>
              </a:rPr>
              <a:t>… </a:t>
            </a:r>
            <a:r>
              <a:rPr sz="2900" b="1" dirty="0" err="1">
                <a:solidFill>
                  <a:srgbClr val="003078"/>
                </a:solidFill>
                <a:latin typeface="Arial"/>
                <a:cs typeface="Arial"/>
              </a:rPr>
              <a:t>معروفة</a:t>
            </a:r>
            <a:r>
              <a:rPr sz="29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2900" b="1" dirty="0" err="1">
                <a:solidFill>
                  <a:srgbClr val="003078"/>
                </a:solidFill>
                <a:latin typeface="Arial"/>
                <a:cs typeface="Arial"/>
              </a:rPr>
              <a:t>قبل</a:t>
            </a:r>
            <a:r>
              <a:rPr sz="29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2900" b="1" dirty="0" err="1">
                <a:solidFill>
                  <a:srgbClr val="003078"/>
                </a:solidFill>
                <a:latin typeface="Arial"/>
                <a:cs typeface="Arial"/>
              </a:rPr>
              <a:t>ما</a:t>
            </a:r>
            <a:r>
              <a:rPr sz="29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2900" b="1" dirty="0" err="1">
                <a:solidFill>
                  <a:srgbClr val="003078"/>
                </a:solidFill>
                <a:latin typeface="Arial"/>
                <a:cs typeface="Arial"/>
              </a:rPr>
              <a:t>تدفع</a:t>
            </a:r>
            <a:r>
              <a:rPr sz="2900" b="1">
                <a:solidFill>
                  <a:srgbClr val="003078"/>
                </a:solidFill>
                <a:latin typeface="Arial"/>
                <a:cs typeface="Arial"/>
              </a:rPr>
              <a:t>‏ لحماية حقوقك</a:t>
            </a:r>
            <a:endParaRPr sz="2900" b="1" dirty="0">
              <a:solidFill>
                <a:srgbClr val="003078"/>
              </a:solidFill>
              <a:latin typeface="Arial"/>
              <a:cs typeface="Arial"/>
            </a:endParaRPr>
          </a:p>
        </p:txBody>
      </p:sp>
      <p:sp>
        <p:nvSpPr>
          <p:cNvPr id="40" name="Tbl Header"/>
          <p:cNvSpPr/>
          <p:nvPr/>
        </p:nvSpPr>
        <p:spPr>
          <a:xfrm>
            <a:off x="548640" y="2230000"/>
            <a:ext cx="11094415" cy="520000"/>
          </a:xfrm>
          <a:prstGeom prst="roundRect">
            <a:avLst>
              <a:gd name="adj" fmla="val 12000"/>
            </a:avLst>
          </a:prstGeom>
          <a:solidFill>
            <a:srgbClr val="0030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Hdr Item"/>
          <p:cNvSpPr txBox="1"/>
          <p:nvPr/>
        </p:nvSpPr>
        <p:spPr>
          <a:xfrm>
            <a:off x="8900000" y="2370000"/>
            <a:ext cx="25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  <a:cs typeface="Arial"/>
              </a:rPr>
              <a:t>البند</a:t>
            </a:r>
          </a:p>
        </p:txBody>
      </p:sp>
      <p:sp>
        <p:nvSpPr>
          <p:cNvPr id="42" name="Hdr Rule"/>
          <p:cNvSpPr txBox="1"/>
          <p:nvPr/>
        </p:nvSpPr>
        <p:spPr>
          <a:xfrm>
            <a:off x="4150000" y="2370000"/>
            <a:ext cx="46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1">
                <a:solidFill>
                  <a:srgbClr val="F3D9A6"/>
                </a:solidFill>
                <a:latin typeface="Arial"/>
                <a:cs typeface="Arial"/>
              </a:rPr>
              <a:t>القاعدة</a:t>
            </a:r>
          </a:p>
        </p:txBody>
      </p:sp>
      <p:sp>
        <p:nvSpPr>
          <p:cNvPr id="43" name="Hdr Why"/>
          <p:cNvSpPr txBox="1"/>
          <p:nvPr/>
        </p:nvSpPr>
        <p:spPr>
          <a:xfrm>
            <a:off x="790000" y="2370000"/>
            <a:ext cx="32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  <a:cs typeface="Arial"/>
              </a:rPr>
              <a:t>ليه؟</a:t>
            </a:r>
          </a:p>
        </p:txBody>
      </p:sp>
      <p:sp>
        <p:nvSpPr>
          <p:cNvPr id="44" name="Tbl Row 1"/>
          <p:cNvSpPr/>
          <p:nvPr/>
        </p:nvSpPr>
        <p:spPr>
          <a:xfrm>
            <a:off x="548640" y="2810000"/>
            <a:ext cx="11094415" cy="5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45" name="Cell Item 1"/>
          <p:cNvSpPr txBox="1"/>
          <p:nvPr/>
        </p:nvSpPr>
        <p:spPr>
          <a:xfrm>
            <a:off x="8900000" y="296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1">
                <a:solidFill>
                  <a:srgbClr val="1D2532"/>
                </a:solidFill>
                <a:latin typeface="Arial"/>
                <a:cs typeface="Arial"/>
              </a:rPr>
              <a:t>تغيير ميعاد المجموعة</a:t>
            </a:r>
          </a:p>
        </p:txBody>
      </p:sp>
      <p:sp>
        <p:nvSpPr>
          <p:cNvPr id="46" name="Cell Rule 1"/>
          <p:cNvSpPr txBox="1"/>
          <p:nvPr/>
        </p:nvSpPr>
        <p:spPr>
          <a:xfrm>
            <a:off x="4150000" y="2900000"/>
            <a:ext cx="4600000" cy="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5B6472"/>
                </a:solidFill>
                <a:latin typeface="Arial"/>
                <a:cs typeface="Arial"/>
              </a:rPr>
              <a:t>بعد الدفع، ميعاد المجموعة ثابت ومايتغيرش في أي مستوى.</a:t>
            </a:r>
          </a:p>
        </p:txBody>
      </p:sp>
      <p:sp>
        <p:nvSpPr>
          <p:cNvPr id="47" name="Cell Why 1"/>
          <p:cNvSpPr txBox="1"/>
          <p:nvPr/>
        </p:nvSpPr>
        <p:spPr>
          <a:xfrm>
            <a:off x="790000" y="2900000"/>
            <a:ext cx="3200000" cy="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50" b="0">
                <a:solidFill>
                  <a:srgbClr val="5B6472"/>
                </a:solidFill>
                <a:latin typeface="Arial"/>
                <a:cs typeface="Arial"/>
              </a:rPr>
              <a:t>عشان نقدر نديك وقت التمرين الصح في الميعاد اللي اتفقنا عليه.</a:t>
            </a:r>
          </a:p>
        </p:txBody>
      </p:sp>
      <p:sp>
        <p:nvSpPr>
          <p:cNvPr id="48" name="Tbl Row 2"/>
          <p:cNvSpPr/>
          <p:nvPr/>
        </p:nvSpPr>
        <p:spPr>
          <a:xfrm>
            <a:off x="548640" y="3440000"/>
            <a:ext cx="11094415" cy="580000"/>
          </a:xfrm>
          <a:prstGeom prst="roundRect">
            <a:avLst>
              <a:gd name="adj" fmla="val 12000"/>
            </a:avLst>
          </a:prstGeom>
          <a:solidFill>
            <a:srgbClr val="F0EB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Cell Item 2"/>
          <p:cNvSpPr txBox="1"/>
          <p:nvPr/>
        </p:nvSpPr>
        <p:spPr>
          <a:xfrm>
            <a:off x="8900000" y="359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1">
                <a:solidFill>
                  <a:srgbClr val="1D2532"/>
                </a:solidFill>
                <a:latin typeface="Arial"/>
                <a:cs typeface="Arial"/>
              </a:rPr>
              <a:t>ميعاد المكالمة الخاصة</a:t>
            </a:r>
          </a:p>
        </p:txBody>
      </p:sp>
      <p:sp>
        <p:nvSpPr>
          <p:cNvPr id="50" name="Cell Rule 2"/>
          <p:cNvSpPr txBox="1"/>
          <p:nvPr/>
        </p:nvSpPr>
        <p:spPr>
          <a:xfrm>
            <a:off x="4150000" y="3530000"/>
            <a:ext cx="4600000" cy="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5B6472"/>
                </a:solidFill>
                <a:latin typeface="Arial"/>
                <a:cs typeface="Arial"/>
              </a:rPr>
              <a:t>الأكاديمية هي اللي بتحدده — الطالب مش بيختار ميعاد المكالمة.</a:t>
            </a:r>
          </a:p>
        </p:txBody>
      </p:sp>
      <p:sp>
        <p:nvSpPr>
          <p:cNvPr id="51" name="Cell Why 2"/>
          <p:cNvSpPr txBox="1"/>
          <p:nvPr/>
        </p:nvSpPr>
        <p:spPr>
          <a:xfrm>
            <a:off x="790000" y="3530000"/>
            <a:ext cx="3200000" cy="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50" b="0">
                <a:solidFill>
                  <a:srgbClr val="5B6472"/>
                </a:solidFill>
                <a:latin typeface="Arial"/>
                <a:cs typeface="Arial"/>
              </a:rPr>
              <a:t>الميزة دي صعبة ومكلفة على الأكاديمية — فلازم نكون دقيقين في مواعيدها عشان توصلك بجودتها.</a:t>
            </a:r>
          </a:p>
        </p:txBody>
      </p:sp>
      <p:sp>
        <p:nvSpPr>
          <p:cNvPr id="52" name="Tbl Row 3"/>
          <p:cNvSpPr/>
          <p:nvPr/>
        </p:nvSpPr>
        <p:spPr>
          <a:xfrm>
            <a:off x="548640" y="4070000"/>
            <a:ext cx="11094415" cy="5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Cell Item 3"/>
          <p:cNvSpPr txBox="1"/>
          <p:nvPr/>
        </p:nvSpPr>
        <p:spPr>
          <a:xfrm>
            <a:off x="8900000" y="422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1">
                <a:solidFill>
                  <a:srgbClr val="1D2532"/>
                </a:solidFill>
                <a:latin typeface="Arial"/>
                <a:cs typeface="Arial"/>
              </a:rPr>
              <a:t>الغياب عن جلسة أو مكالمة</a:t>
            </a:r>
          </a:p>
        </p:txBody>
      </p:sp>
      <p:sp>
        <p:nvSpPr>
          <p:cNvPr id="54" name="Cell Rule 3"/>
          <p:cNvSpPr txBox="1"/>
          <p:nvPr/>
        </p:nvSpPr>
        <p:spPr>
          <a:xfrm>
            <a:off x="4150000" y="4160000"/>
            <a:ext cx="4600000" cy="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5B6472"/>
                </a:solidFill>
                <a:latin typeface="Arial"/>
                <a:cs typeface="Arial"/>
              </a:rPr>
              <a:t>لو غبت، بتشوف جلسة الزوم أو المكالمة من التسجيل بس.</a:t>
            </a:r>
          </a:p>
        </p:txBody>
      </p:sp>
      <p:sp>
        <p:nvSpPr>
          <p:cNvPr id="55" name="Cell Why 3"/>
          <p:cNvSpPr txBox="1"/>
          <p:nvPr/>
        </p:nvSpPr>
        <p:spPr>
          <a:xfrm>
            <a:off x="790000" y="4160000"/>
            <a:ext cx="3200000" cy="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50" b="0">
                <a:solidFill>
                  <a:srgbClr val="5B6472"/>
                </a:solidFill>
                <a:latin typeface="Arial"/>
                <a:cs typeface="Arial"/>
              </a:rPr>
              <a:t>الجلسة البديلة الخاصة تكلفتها 500 جنيه للجلسة — التسجيل بيوفرهالك ببلاش.</a:t>
            </a:r>
          </a:p>
        </p:txBody>
      </p:sp>
      <p:sp>
        <p:nvSpPr>
          <p:cNvPr id="56" name="Tbl Row 4"/>
          <p:cNvSpPr/>
          <p:nvPr/>
        </p:nvSpPr>
        <p:spPr>
          <a:xfrm>
            <a:off x="548640" y="4700000"/>
            <a:ext cx="11094415" cy="440000"/>
          </a:xfrm>
          <a:prstGeom prst="roundRect">
            <a:avLst>
              <a:gd name="adj" fmla="val 12000"/>
            </a:avLst>
          </a:prstGeom>
          <a:solidFill>
            <a:srgbClr val="F0EBDF"/>
          </a:solidFill>
          <a:ln>
            <a:noFill/>
          </a:ln>
          <a:effectLst/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57" name="Cell Item 4"/>
          <p:cNvSpPr txBox="1"/>
          <p:nvPr/>
        </p:nvSpPr>
        <p:spPr>
          <a:xfrm>
            <a:off x="8900000" y="485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1">
                <a:solidFill>
                  <a:srgbClr val="1D2532"/>
                </a:solidFill>
                <a:latin typeface="Arial"/>
                <a:cs typeface="Arial"/>
              </a:rPr>
              <a:t>تأجيل الرحلة</a:t>
            </a:r>
          </a:p>
        </p:txBody>
      </p:sp>
      <p:sp>
        <p:nvSpPr>
          <p:cNvPr id="58" name="Cell Rule 4"/>
          <p:cNvSpPr txBox="1"/>
          <p:nvPr/>
        </p:nvSpPr>
        <p:spPr>
          <a:xfrm>
            <a:off x="4150000" y="4790000"/>
            <a:ext cx="4600000" cy="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5B6472"/>
                </a:solidFill>
                <a:latin typeface="Arial"/>
                <a:cs typeface="Arial"/>
              </a:rPr>
              <a:t>التأجيل برسوم 500 جنيه.</a:t>
            </a:r>
          </a:p>
        </p:txBody>
      </p:sp>
      <p:sp>
        <p:nvSpPr>
          <p:cNvPr id="59" name="Cell Why 4"/>
          <p:cNvSpPr txBox="1"/>
          <p:nvPr/>
        </p:nvSpPr>
        <p:spPr>
          <a:xfrm>
            <a:off x="790000" y="4790000"/>
            <a:ext cx="3200000" cy="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50" b="0">
                <a:solidFill>
                  <a:srgbClr val="5B6472"/>
                </a:solidFill>
                <a:latin typeface="Arial"/>
                <a:cs typeface="Arial"/>
              </a:rPr>
              <a:t>عشان نقدر نديك وقت التمرين الصح في المواعيد اللي اتفقنا عليها.</a:t>
            </a:r>
          </a:p>
        </p:txBody>
      </p:sp>
      <p:sp>
        <p:nvSpPr>
          <p:cNvPr id="60" name="Tbl Row 5"/>
          <p:cNvSpPr/>
          <p:nvPr/>
        </p:nvSpPr>
        <p:spPr>
          <a:xfrm>
            <a:off x="548640" y="5190000"/>
            <a:ext cx="11094415" cy="9255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61" name="Cell Item 5"/>
          <p:cNvSpPr txBox="1"/>
          <p:nvPr/>
        </p:nvSpPr>
        <p:spPr>
          <a:xfrm>
            <a:off x="8900000" y="548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1">
                <a:solidFill>
                  <a:srgbClr val="1D2532"/>
                </a:solidFill>
                <a:latin typeface="Arial"/>
                <a:cs typeface="Arial"/>
              </a:rPr>
              <a:t>استرداد الرسوم</a:t>
            </a:r>
          </a:p>
        </p:txBody>
      </p:sp>
      <p:sp>
        <p:nvSpPr>
          <p:cNvPr id="62" name="Cell Rule 5"/>
          <p:cNvSpPr txBox="1"/>
          <p:nvPr/>
        </p:nvSpPr>
        <p:spPr>
          <a:xfrm>
            <a:off x="4150000" y="5420000"/>
            <a:ext cx="4600000" cy="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>
                <a:solidFill>
                  <a:srgbClr val="D81818"/>
                </a:solidFill>
                <a:latin typeface="Arial"/>
                <a:cs typeface="Arial"/>
              </a:rPr>
              <a:t>مفيش استرداد للرسوم بعد الدفع.</a:t>
            </a:r>
          </a:p>
        </p:txBody>
      </p:sp>
      <p:sp>
        <p:nvSpPr>
          <p:cNvPr id="63" name="Cell Why 5"/>
          <p:cNvSpPr txBox="1"/>
          <p:nvPr/>
        </p:nvSpPr>
        <p:spPr>
          <a:xfrm>
            <a:off x="548640" y="5363246"/>
            <a:ext cx="4159284" cy="619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 dirty="0" err="1">
                <a:solidFill>
                  <a:srgbClr val="5B6472"/>
                </a:solidFill>
                <a:latin typeface="Arial"/>
                <a:cs typeface="Arial"/>
              </a:rPr>
              <a:t>عشان</a:t>
            </a:r>
            <a:r>
              <a:rPr sz="1200" b="1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200" b="1" dirty="0" err="1">
                <a:solidFill>
                  <a:srgbClr val="5B6472"/>
                </a:solidFill>
                <a:latin typeface="Arial"/>
                <a:cs typeface="Arial"/>
              </a:rPr>
              <a:t>نديك</a:t>
            </a:r>
            <a:r>
              <a:rPr sz="1200" b="1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200" b="1" dirty="0" err="1">
                <a:solidFill>
                  <a:srgbClr val="5B6472"/>
                </a:solidFill>
                <a:latin typeface="Arial"/>
                <a:cs typeface="Arial"/>
              </a:rPr>
              <a:t>القيمة</a:t>
            </a:r>
            <a:r>
              <a:rPr sz="1200" b="1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200" b="1" dirty="0" err="1">
                <a:solidFill>
                  <a:srgbClr val="5B6472"/>
                </a:solidFill>
                <a:latin typeface="Arial"/>
                <a:cs typeface="Arial"/>
              </a:rPr>
              <a:t>اللي</a:t>
            </a:r>
            <a:r>
              <a:rPr sz="1200" b="1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200" b="1" dirty="0" err="1">
                <a:solidFill>
                  <a:srgbClr val="5B6472"/>
                </a:solidFill>
                <a:latin typeface="Arial"/>
                <a:cs typeface="Arial"/>
              </a:rPr>
              <a:t>متوقعها</a:t>
            </a:r>
            <a:r>
              <a:rPr sz="1200" b="1" dirty="0">
                <a:solidFill>
                  <a:srgbClr val="5B6472"/>
                </a:solidFill>
                <a:latin typeface="Arial"/>
                <a:cs typeface="Arial"/>
              </a:rPr>
              <a:t>، </a:t>
            </a:r>
            <a:r>
              <a:rPr sz="1200" b="1" dirty="0" err="1">
                <a:solidFill>
                  <a:srgbClr val="5B6472"/>
                </a:solidFill>
                <a:latin typeface="Arial"/>
                <a:cs typeface="Arial"/>
              </a:rPr>
              <a:t>بنجهّز</a:t>
            </a:r>
            <a:r>
              <a:rPr sz="1200" b="1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200" b="1" dirty="0" err="1">
                <a:solidFill>
                  <a:srgbClr val="5B6472"/>
                </a:solidFill>
                <a:latin typeface="Arial"/>
                <a:cs typeface="Arial"/>
              </a:rPr>
              <a:t>فريق</a:t>
            </a:r>
            <a:r>
              <a:rPr sz="1200" b="1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200" b="1" dirty="0" err="1">
                <a:solidFill>
                  <a:srgbClr val="5B6472"/>
                </a:solidFill>
                <a:latin typeface="Arial"/>
                <a:cs typeface="Arial"/>
              </a:rPr>
              <a:t>المدرّبين</a:t>
            </a:r>
            <a:r>
              <a:rPr sz="1200" b="1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200" b="1" dirty="0" err="1">
                <a:solidFill>
                  <a:srgbClr val="5B6472"/>
                </a:solidFill>
                <a:latin typeface="Arial"/>
                <a:cs typeface="Arial"/>
              </a:rPr>
              <a:t>ليك</a:t>
            </a:r>
            <a:r>
              <a:rPr lang="ar-SA" sz="1200" b="1" dirty="0">
                <a:solidFill>
                  <a:srgbClr val="5B6472"/>
                </a:solidFill>
                <a:latin typeface="Arial"/>
                <a:cs typeface="Arial"/>
              </a:rPr>
              <a:t>، في حاله عدم </a:t>
            </a:r>
            <a:r>
              <a:rPr lang="ar-SA" sz="1200" b="1" dirty="0" err="1">
                <a:solidFill>
                  <a:srgbClr val="5B6472"/>
                </a:solidFill>
                <a:latin typeface="Arial"/>
                <a:cs typeface="Arial"/>
              </a:rPr>
              <a:t>الاستفاده</a:t>
            </a:r>
            <a:r>
              <a:rPr lang="ar-SA" sz="1200" b="1" dirty="0">
                <a:solidFill>
                  <a:srgbClr val="5B6472"/>
                </a:solidFill>
                <a:latin typeface="Arial"/>
                <a:cs typeface="Arial"/>
              </a:rPr>
              <a:t> من المحاضر يتم تغير المحاضر واعاده </a:t>
            </a:r>
            <a:r>
              <a:rPr lang="ar-SA" sz="1200" b="1" dirty="0" err="1">
                <a:solidFill>
                  <a:srgbClr val="5B6472"/>
                </a:solidFill>
                <a:latin typeface="Arial"/>
                <a:cs typeface="Arial"/>
              </a:rPr>
              <a:t>اليفيل</a:t>
            </a:r>
            <a:r>
              <a:rPr lang="ar-SA" sz="1200" b="1" dirty="0">
                <a:solidFill>
                  <a:srgbClr val="5B6472"/>
                </a:solidFill>
                <a:latin typeface="Arial"/>
                <a:cs typeface="Arial"/>
              </a:rPr>
              <a:t> كامل </a:t>
            </a:r>
            <a:br>
              <a:rPr lang="ar-SA" sz="1200" dirty="0">
                <a:solidFill>
                  <a:srgbClr val="5B6472"/>
                </a:solidFill>
                <a:latin typeface="Arial"/>
                <a:cs typeface="Arial"/>
              </a:rPr>
            </a:br>
            <a:r>
              <a:rPr lang="ar-SA" sz="1200" dirty="0">
                <a:solidFill>
                  <a:srgbClr val="5B6472"/>
                </a:solidFill>
                <a:latin typeface="Arial"/>
                <a:cs typeface="Arial"/>
              </a:rPr>
              <a:t>           </a:t>
            </a:r>
            <a:r>
              <a:rPr lang="ar-SA" sz="1200" b="1" dirty="0">
                <a:solidFill>
                  <a:srgbClr val="FF0000"/>
                </a:solidFill>
                <a:latin typeface="Arial"/>
                <a:cs typeface="Arial"/>
              </a:rPr>
              <a:t>في حاله اكثر من ٦٠٪ شكوي علي </a:t>
            </a:r>
            <a:r>
              <a:rPr lang="ar-SA" sz="1200" b="1" dirty="0" err="1">
                <a:solidFill>
                  <a:srgbClr val="FF0000"/>
                </a:solidFill>
                <a:latin typeface="Arial"/>
                <a:cs typeface="Arial"/>
              </a:rPr>
              <a:t>المحاضرمن</a:t>
            </a:r>
            <a:r>
              <a:rPr lang="ar-SA" sz="1200" b="1" dirty="0">
                <a:solidFill>
                  <a:srgbClr val="FF0000"/>
                </a:solidFill>
                <a:latin typeface="Arial"/>
                <a:cs typeface="Arial"/>
              </a:rPr>
              <a:t> طلاب الجروب </a:t>
            </a:r>
            <a:r>
              <a:rPr sz="1200" b="0" dirty="0">
                <a:solidFill>
                  <a:srgbClr val="5B6472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10" name="Agreement Banner">
            <a:extLst>
              <a:ext uri="{FF2B5EF4-FFF2-40B4-BE49-F238E27FC236}">
                <a16:creationId xmlns:a16="http://schemas.microsoft.com/office/drawing/2014/main" id="{129F2000-E393-8264-D613-9238B6169906}"/>
              </a:ext>
            </a:extLst>
          </p:cNvPr>
          <p:cNvSpPr/>
          <p:nvPr/>
        </p:nvSpPr>
        <p:spPr>
          <a:xfrm>
            <a:off x="548792" y="6272262"/>
            <a:ext cx="11094415" cy="448508"/>
          </a:xfrm>
          <a:prstGeom prst="roundRect">
            <a:avLst>
              <a:gd name="adj" fmla="val 20000"/>
            </a:avLst>
          </a:prstGeom>
          <a:solidFill>
            <a:srgbClr val="D81818"/>
          </a:solidFill>
          <a:ln>
            <a:noFill/>
          </a:ln>
          <a:effectLst/>
        </p:spPr>
        <p:txBody>
          <a:bodyPr rtlCol="0" anchor="ctr"/>
          <a:lstStyle/>
          <a:p>
            <a:pPr marL="0" algn="ctr" defTabSz="457200" rtl="1" eaLnBrk="1" latinLnBrk="0" hangingPunct="1"/>
            <a:r>
              <a:rPr lang="ar-SA" dirty="0"/>
              <a:t>يجب حضور الطلاب جميع محاضرات </a:t>
            </a:r>
            <a:r>
              <a:rPr lang="ar-SA" dirty="0" err="1"/>
              <a:t>الليفيل</a:t>
            </a:r>
            <a:r>
              <a:rPr lang="ar-SA" dirty="0"/>
              <a:t> من اجل طلب شكوي تغير المحاضر 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749808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7320" y="642620"/>
            <a:ext cx="4023360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10000"/>
              </a:lnSpc>
            </a:pPr>
            <a:r>
              <a:rPr sz="1600" b="1">
                <a:solidFill>
                  <a:srgbClr val="003078"/>
                </a:solidFill>
                <a:latin typeface="Arial"/>
                <a:cs typeface="Arial"/>
              </a:rPr>
              <a:t>أكاديمية أحمد حسن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932688"/>
            <a:ext cx="4023360" cy="166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950" b="0">
                <a:solidFill>
                  <a:srgbClr val="5B6472"/>
                </a:solidFill>
                <a:latin typeface="Arial"/>
                <a:cs typeface="Arial"/>
              </a:rPr>
              <a:t>English with Ahmed Hassan</a:t>
            </a:r>
          </a:p>
        </p:txBody>
      </p:sp>
      <p:sp>
        <p:nvSpPr>
          <p:cNvPr id="5" name="Oval 4"/>
          <p:cNvSpPr/>
          <p:nvPr/>
        </p:nvSpPr>
        <p:spPr>
          <a:xfrm>
            <a:off x="10927080" y="384048"/>
            <a:ext cx="786384" cy="786384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137392" y="614476"/>
            <a:ext cx="365760" cy="512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37392" y="742492"/>
            <a:ext cx="365760" cy="512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37392" y="870508"/>
            <a:ext cx="365760" cy="512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itle"/>
          <p:cNvSpPr txBox="1"/>
          <p:nvPr/>
        </p:nvSpPr>
        <p:spPr>
          <a:xfrm>
            <a:off x="548640" y="1650000"/>
            <a:ext cx="11094415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2700" b="1" dirty="0" err="1">
                <a:solidFill>
                  <a:srgbClr val="003078"/>
                </a:solidFill>
                <a:latin typeface="Arial"/>
                <a:cs typeface="Arial"/>
              </a:rPr>
              <a:t>اتفاقنا</a:t>
            </a:r>
            <a:r>
              <a:rPr sz="27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2700" b="1" dirty="0" err="1">
                <a:solidFill>
                  <a:srgbClr val="003078"/>
                </a:solidFill>
                <a:latin typeface="Arial"/>
                <a:cs typeface="Arial"/>
              </a:rPr>
              <a:t>مع</a:t>
            </a:r>
            <a:r>
              <a:rPr sz="27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2700" b="1" dirty="0" err="1">
                <a:solidFill>
                  <a:srgbClr val="003078"/>
                </a:solidFill>
                <a:latin typeface="Arial"/>
                <a:cs typeface="Arial"/>
              </a:rPr>
              <a:t>بعض</a:t>
            </a:r>
            <a:r>
              <a:rPr sz="2700" b="1" dirty="0">
                <a:solidFill>
                  <a:srgbClr val="003078"/>
                </a:solidFill>
                <a:latin typeface="Arial"/>
                <a:cs typeface="Arial"/>
              </a:rPr>
              <a:t>… </a:t>
            </a:r>
            <a:r>
              <a:rPr sz="2700" b="1" dirty="0" err="1">
                <a:solidFill>
                  <a:srgbClr val="003078"/>
                </a:solidFill>
                <a:latin typeface="Arial"/>
                <a:cs typeface="Arial"/>
              </a:rPr>
              <a:t>التزام</a:t>
            </a:r>
            <a:r>
              <a:rPr sz="27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2700" b="1" dirty="0" err="1">
                <a:solidFill>
                  <a:srgbClr val="003078"/>
                </a:solidFill>
                <a:latin typeface="Arial"/>
                <a:cs typeface="Arial"/>
              </a:rPr>
              <a:t>في</a:t>
            </a:r>
            <a:r>
              <a:rPr sz="2700" b="1" dirty="0">
                <a:solidFill>
                  <a:srgbClr val="003078"/>
                </a:solidFill>
                <a:latin typeface="Arial"/>
                <a:cs typeface="Arial"/>
              </a:rPr>
              <a:t> </a:t>
            </a:r>
            <a:r>
              <a:rPr sz="2700" b="1" dirty="0" err="1">
                <a:solidFill>
                  <a:srgbClr val="003078"/>
                </a:solidFill>
                <a:latin typeface="Arial"/>
                <a:cs typeface="Arial"/>
              </a:rPr>
              <a:t>الاتجاهين</a:t>
            </a:r>
            <a:endParaRPr sz="2700" b="1" dirty="0">
              <a:solidFill>
                <a:srgbClr val="003078"/>
              </a:solidFill>
              <a:latin typeface="Arial"/>
              <a:cs typeface="Arial"/>
            </a:endParaRPr>
          </a:p>
        </p:txBody>
      </p:sp>
      <p:sp>
        <p:nvSpPr>
          <p:cNvPr id="31" name="Academy Card"/>
          <p:cNvSpPr/>
          <p:nvPr/>
        </p:nvSpPr>
        <p:spPr>
          <a:xfrm>
            <a:off x="6243055" y="2400000"/>
            <a:ext cx="5400000" cy="3050000"/>
          </a:xfrm>
          <a:prstGeom prst="roundRect">
            <a:avLst>
              <a:gd name="adj" fmla="val 6000"/>
            </a:avLst>
          </a:prstGeom>
          <a:solidFill>
            <a:srgbClr val="0B2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Academy Head"/>
          <p:cNvSpPr txBox="1"/>
          <p:nvPr/>
        </p:nvSpPr>
        <p:spPr>
          <a:xfrm>
            <a:off x="6543055" y="2650000"/>
            <a:ext cx="48000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Arial"/>
                <a:cs typeface="Arial"/>
              </a:rPr>
              <a:t>إحنا بنلتزم ليك</a:t>
            </a:r>
          </a:p>
        </p:txBody>
      </p:sp>
      <p:sp>
        <p:nvSpPr>
          <p:cNvPr id="33" name="Academy Items"/>
          <p:cNvSpPr txBox="1"/>
          <p:nvPr/>
        </p:nvSpPr>
        <p:spPr>
          <a:xfrm>
            <a:off x="6543055" y="3100000"/>
            <a:ext cx="4800000" cy="184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•‏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بنقولك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كل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السياسات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والمواعيد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قبل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ما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تدفع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.</a:t>
            </a:r>
          </a:p>
          <a:p>
            <a:pPr algn="r" rtl="1">
              <a:lnSpc>
                <a:spcPct val="150000"/>
              </a:lnSpc>
            </a:pP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•‏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مواعيدك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ثابتة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طول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الرحلة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—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جلسات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ومكالمات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في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وقتها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.</a:t>
            </a:r>
          </a:p>
          <a:p>
            <a:pPr algn="r" rtl="1">
              <a:lnSpc>
                <a:spcPct val="150000"/>
              </a:lnSpc>
            </a:pP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•‏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لو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غبت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،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التسجيلات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متاحة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ليك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لمدة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أسبوعين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.</a:t>
            </a:r>
          </a:p>
          <a:p>
            <a:pPr algn="r" rtl="1">
              <a:lnSpc>
                <a:spcPct val="150000"/>
              </a:lnSpc>
            </a:pP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•‏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فريق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مدرّبين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كامل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متجهّز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ليك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من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أول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يوم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.</a:t>
            </a:r>
          </a:p>
          <a:p>
            <a:pPr algn="r" rtl="1">
              <a:lnSpc>
                <a:spcPct val="150000"/>
              </a:lnSpc>
            </a:pP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•‏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فيدباك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يومي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على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كل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جلسة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ومكالمة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D9E2F2"/>
                </a:solidFill>
                <a:latin typeface="Arial"/>
                <a:cs typeface="Arial"/>
              </a:rPr>
              <a:t>وتاسك</a:t>
            </a:r>
            <a:r>
              <a:rPr sz="1600" b="0" dirty="0">
                <a:solidFill>
                  <a:srgbClr val="D9E2F2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34" name="Student Card"/>
          <p:cNvSpPr/>
          <p:nvPr/>
        </p:nvSpPr>
        <p:spPr>
          <a:xfrm>
            <a:off x="548640" y="2400000"/>
            <a:ext cx="5400000" cy="3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Student Head"/>
          <p:cNvSpPr txBox="1"/>
          <p:nvPr/>
        </p:nvSpPr>
        <p:spPr>
          <a:xfrm>
            <a:off x="848640" y="2650000"/>
            <a:ext cx="48000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00" b="1">
                <a:solidFill>
                  <a:srgbClr val="D81818"/>
                </a:solidFill>
                <a:latin typeface="Arial"/>
                <a:cs typeface="Arial"/>
              </a:rPr>
              <a:t>وانت بتلتزم لينا</a:t>
            </a:r>
          </a:p>
        </p:txBody>
      </p:sp>
      <p:sp>
        <p:nvSpPr>
          <p:cNvPr id="36" name="Student Items"/>
          <p:cNvSpPr txBox="1"/>
          <p:nvPr/>
        </p:nvSpPr>
        <p:spPr>
          <a:xfrm>
            <a:off x="848640" y="3100000"/>
            <a:ext cx="4800000" cy="20261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•‏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ميعاد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المجموعة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ثابت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—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مفيش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تغيير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بعد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الدفع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في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أي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مستوى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.</a:t>
            </a:r>
          </a:p>
          <a:p>
            <a:pPr algn="r" rtl="1">
              <a:lnSpc>
                <a:spcPct val="150000"/>
              </a:lnSpc>
            </a:pP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•‏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ميعاد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المكالمة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الخاصة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بتحدده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الأكاديمية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.</a:t>
            </a:r>
          </a:p>
          <a:p>
            <a:pPr algn="r" rtl="1">
              <a:lnSpc>
                <a:spcPct val="150000"/>
              </a:lnSpc>
            </a:pP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•‏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الغياب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=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مشاهدة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التسجيل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(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أو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جلسة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بديلة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ب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ـ 500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جنيه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).</a:t>
            </a:r>
          </a:p>
          <a:p>
            <a:pPr algn="r" rtl="1">
              <a:lnSpc>
                <a:spcPct val="150000"/>
              </a:lnSpc>
            </a:pP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•‏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تأجيل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الرحلة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برسوم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500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جنيه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.</a:t>
            </a:r>
          </a:p>
          <a:p>
            <a:pPr algn="r" rtl="1">
              <a:lnSpc>
                <a:spcPct val="150000"/>
              </a:lnSpc>
            </a:pP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•‏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الرسوم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غير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قابلة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للاسترداد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بعد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dirty="0" err="1">
                <a:solidFill>
                  <a:srgbClr val="5B6472"/>
                </a:solidFill>
                <a:latin typeface="Arial"/>
                <a:cs typeface="Arial"/>
              </a:rPr>
              <a:t>الدفع</a:t>
            </a:r>
            <a:r>
              <a:rPr b="0" dirty="0">
                <a:solidFill>
                  <a:srgbClr val="5B6472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37" name="Agreement Banner"/>
          <p:cNvSpPr/>
          <p:nvPr/>
        </p:nvSpPr>
        <p:spPr>
          <a:xfrm>
            <a:off x="548640" y="5750000"/>
            <a:ext cx="11094415" cy="700000"/>
          </a:xfrm>
          <a:prstGeom prst="roundRect">
            <a:avLst>
              <a:gd name="adj" fmla="val 20000"/>
            </a:avLst>
          </a:prstGeom>
          <a:solidFill>
            <a:srgbClr val="D81818"/>
          </a:solidFill>
          <a:ln>
            <a:noFill/>
          </a:ln>
          <a:effectLst/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38" name="Agreement Text"/>
          <p:cNvSpPr txBox="1"/>
          <p:nvPr/>
        </p:nvSpPr>
        <p:spPr>
          <a:xfrm>
            <a:off x="748640" y="5970000"/>
            <a:ext cx="10694415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500" b="1" dirty="0" err="1">
                <a:solidFill>
                  <a:srgbClr val="FFFFFF"/>
                </a:solidFill>
                <a:latin typeface="Arial"/>
                <a:cs typeface="Arial"/>
              </a:rPr>
              <a:t>بمجرد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  <a:cs typeface="Arial"/>
              </a:rPr>
              <a:t>دفعك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  <a:cs typeface="Arial"/>
              </a:rPr>
              <a:t>رسوم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  <a:cs typeface="Arial"/>
              </a:rPr>
              <a:t>الرحلة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… </a:t>
            </a:r>
            <a:r>
              <a:rPr sz="1500" b="1" dirty="0" err="1">
                <a:solidFill>
                  <a:srgbClr val="FFFFFF"/>
                </a:solidFill>
                <a:latin typeface="Arial"/>
                <a:cs typeface="Arial"/>
              </a:rPr>
              <a:t>انت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  <a:cs typeface="Arial"/>
              </a:rPr>
              <a:t>بتوافق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  <a:cs typeface="Arial"/>
              </a:rPr>
              <a:t>على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  <a:cs typeface="Arial"/>
              </a:rPr>
              <a:t>سياسات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  <a:cs typeface="Arial"/>
              </a:rPr>
              <a:t>وقواعد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  <a:cs typeface="Arial"/>
              </a:rPr>
              <a:t>الأكاديمية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 — </a:t>
            </a:r>
            <a:r>
              <a:rPr sz="1500" b="1" dirty="0" err="1">
                <a:solidFill>
                  <a:srgbClr val="FFFFFF"/>
                </a:solidFill>
                <a:latin typeface="Arial"/>
                <a:cs typeface="Arial"/>
              </a:rPr>
              <a:t>عشان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  <a:cs typeface="Arial"/>
              </a:rPr>
              <a:t>نقدر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  <a:cs typeface="Arial"/>
              </a:rPr>
              <a:t>نوصلك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  <a:cs typeface="Arial"/>
              </a:rPr>
              <a:t>أفضل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  <a:cs typeface="Arial"/>
              </a:rPr>
              <a:t>قيمة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99000"/>
            <a:ext cx="12191695" cy="685800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5592927" y="3200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847" y="382920"/>
            <a:ext cx="880000" cy="88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480000"/>
            <a:ext cx="12191695" cy="51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  <a:cs typeface="Arial"/>
              </a:rPr>
              <a:t>جاهز تبدأ رحلتك نحو الطلاقة؟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8167" y="1950000"/>
            <a:ext cx="8595360" cy="309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30000"/>
              </a:lnSpc>
            </a:pPr>
            <a:r>
              <a:rPr sz="1600" b="0">
                <a:solidFill>
                  <a:srgbClr val="CBD6EA"/>
                </a:solidFill>
                <a:latin typeface="Arial"/>
                <a:cs typeface="Arial"/>
              </a:rPr>
              <a:t>برنامج مبني على إنك تتكلم كل يوم، بمتابعة وفيدباك يومي، وسياسة واضحة تحمي تجربتك.</a:t>
            </a:r>
          </a:p>
        </p:txBody>
      </p:sp>
      <p:sp>
        <p:nvSpPr>
          <p:cNvPr id="20" name="SuperGold Card"/>
          <p:cNvSpPr/>
          <p:nvPr/>
        </p:nvSpPr>
        <p:spPr>
          <a:xfrm>
            <a:off x="6045848" y="2560000"/>
            <a:ext cx="4400000" cy="2480000"/>
          </a:xfrm>
          <a:prstGeom prst="roundRect">
            <a:avLst>
              <a:gd name="adj" fmla="val 8000"/>
            </a:avLst>
          </a:prstGeom>
          <a:solidFill>
            <a:srgbClr val="C99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Best Value Badge"/>
          <p:cNvSpPr/>
          <p:nvPr/>
        </p:nvSpPr>
        <p:spPr>
          <a:xfrm>
            <a:off x="7345848" y="2360000"/>
            <a:ext cx="1800000" cy="400000"/>
          </a:xfrm>
          <a:prstGeom prst="roundRect">
            <a:avLst>
              <a:gd name="adj" fmla="val 50000"/>
            </a:avLst>
          </a:prstGeom>
          <a:solidFill>
            <a:srgbClr val="D818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est Value Text"/>
          <p:cNvSpPr txBox="1"/>
          <p:nvPr/>
        </p:nvSpPr>
        <p:spPr>
          <a:xfrm>
            <a:off x="7345848" y="2470000"/>
            <a:ext cx="18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  <a:cs typeface="Arial"/>
              </a:rPr>
              <a:t>الأفضل قيمة</a:t>
            </a:r>
          </a:p>
        </p:txBody>
      </p:sp>
      <p:sp>
        <p:nvSpPr>
          <p:cNvPr id="23" name="SG Name"/>
          <p:cNvSpPr txBox="1"/>
          <p:nvPr/>
        </p:nvSpPr>
        <p:spPr>
          <a:xfrm>
            <a:off x="6045848" y="2860000"/>
            <a:ext cx="44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  <a:cs typeface="Arial"/>
              </a:rPr>
              <a:t>Super Gold‏ — ٦ مستويات في ٦ شهور</a:t>
            </a:r>
          </a:p>
        </p:txBody>
      </p:sp>
      <p:sp>
        <p:nvSpPr>
          <p:cNvPr id="24" name="SG Price"/>
          <p:cNvSpPr txBox="1"/>
          <p:nvPr/>
        </p:nvSpPr>
        <p:spPr>
          <a:xfrm>
            <a:off x="6045848" y="3200000"/>
            <a:ext cx="44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rial"/>
                <a:cs typeface="Arial"/>
              </a:rPr>
              <a:t>8,300‏ جنيه</a:t>
            </a:r>
          </a:p>
        </p:txBody>
      </p:sp>
      <p:sp>
        <p:nvSpPr>
          <p:cNvPr id="25" name="SG Old"/>
          <p:cNvSpPr txBox="1"/>
          <p:nvPr/>
        </p:nvSpPr>
        <p:spPr>
          <a:xfrm>
            <a:off x="6045848" y="3770000"/>
            <a:ext cx="44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250" b="0" strike="sngStrike">
                <a:solidFill>
                  <a:srgbClr val="3A2A00"/>
                </a:solidFill>
                <a:latin typeface="Arial"/>
                <a:cs typeface="Arial"/>
              </a:rPr>
              <a:t>بدلاً من 10,700 جنيه</a:t>
            </a:r>
            <a:r>
              <a:rPr sz="1250" b="1">
                <a:solidFill>
                  <a:srgbClr val="3A2A00"/>
                </a:solidFill>
                <a:latin typeface="Arial"/>
                <a:cs typeface="Arial"/>
              </a:rPr>
              <a:t>  — وفّرت 2,400</a:t>
            </a:r>
          </a:p>
        </p:txBody>
      </p:sp>
      <p:sp>
        <p:nvSpPr>
          <p:cNvPr id="26" name="SG Bullets"/>
          <p:cNvSpPr txBox="1"/>
          <p:nvPr/>
        </p:nvSpPr>
        <p:spPr>
          <a:xfrm>
            <a:off x="6345848" y="4120000"/>
            <a:ext cx="3800000" cy="739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150" b="1" dirty="0">
                <a:solidFill>
                  <a:srgbClr val="3A2A00"/>
                </a:solidFill>
                <a:latin typeface="Arial"/>
                <a:cs typeface="Arial"/>
              </a:rPr>
              <a:t>•‏ </a:t>
            </a:r>
            <a:r>
              <a:rPr sz="1150" b="1" dirty="0" err="1">
                <a:solidFill>
                  <a:srgbClr val="3A2A00"/>
                </a:solidFill>
                <a:latin typeface="Arial"/>
                <a:cs typeface="Arial"/>
              </a:rPr>
              <a:t>رحلة</a:t>
            </a:r>
            <a:r>
              <a:rPr sz="1150" b="1" dirty="0">
                <a:solidFill>
                  <a:srgbClr val="3A2A00"/>
                </a:solidFill>
                <a:latin typeface="Arial"/>
                <a:cs typeface="Arial"/>
              </a:rPr>
              <a:t> </a:t>
            </a:r>
            <a:r>
              <a:rPr sz="1150" b="1" dirty="0" err="1">
                <a:solidFill>
                  <a:srgbClr val="3A2A00"/>
                </a:solidFill>
                <a:latin typeface="Arial"/>
                <a:cs typeface="Arial"/>
              </a:rPr>
              <a:t>الطلاقة</a:t>
            </a:r>
            <a:r>
              <a:rPr sz="1150" b="1" dirty="0">
                <a:solidFill>
                  <a:srgbClr val="3A2A00"/>
                </a:solidFill>
                <a:latin typeface="Arial"/>
                <a:cs typeface="Arial"/>
              </a:rPr>
              <a:t> </a:t>
            </a:r>
            <a:r>
              <a:rPr sz="1150" b="1" dirty="0" err="1">
                <a:solidFill>
                  <a:srgbClr val="3A2A00"/>
                </a:solidFill>
                <a:latin typeface="Arial"/>
                <a:cs typeface="Arial"/>
              </a:rPr>
              <a:t>الكاملة</a:t>
            </a:r>
            <a:r>
              <a:rPr sz="1150" b="1" dirty="0">
                <a:solidFill>
                  <a:srgbClr val="3A2A00"/>
                </a:solidFill>
                <a:latin typeface="Arial"/>
                <a:cs typeface="Arial"/>
              </a:rPr>
              <a:t> — </a:t>
            </a:r>
            <a:r>
              <a:rPr sz="1150" b="1" dirty="0" err="1">
                <a:solidFill>
                  <a:srgbClr val="3A2A00"/>
                </a:solidFill>
                <a:latin typeface="Arial"/>
                <a:cs typeface="Arial"/>
              </a:rPr>
              <a:t>لحد</a:t>
            </a:r>
            <a:r>
              <a:rPr sz="1150" b="1" dirty="0">
                <a:solidFill>
                  <a:srgbClr val="3A2A00"/>
                </a:solidFill>
                <a:latin typeface="Arial"/>
                <a:cs typeface="Arial"/>
              </a:rPr>
              <a:t> </a:t>
            </a:r>
            <a:r>
              <a:rPr sz="1150" b="1" dirty="0" err="1">
                <a:solidFill>
                  <a:srgbClr val="3A2A00"/>
                </a:solidFill>
                <a:latin typeface="Arial"/>
                <a:cs typeface="Arial"/>
              </a:rPr>
              <a:t>مستوى</a:t>
            </a:r>
            <a:r>
              <a:rPr sz="1150" b="1" dirty="0">
                <a:solidFill>
                  <a:srgbClr val="3A2A00"/>
                </a:solidFill>
                <a:latin typeface="Arial"/>
                <a:cs typeface="Arial"/>
              </a:rPr>
              <a:t> B2.</a:t>
            </a:r>
          </a:p>
          <a:p>
            <a:pPr algn="r" rtl="1">
              <a:lnSpc>
                <a:spcPct val="145000"/>
              </a:lnSpc>
            </a:pPr>
            <a:r>
              <a:rPr sz="1150" b="1" dirty="0">
                <a:solidFill>
                  <a:srgbClr val="3A2A00"/>
                </a:solidFill>
                <a:latin typeface="Arial"/>
                <a:cs typeface="Arial"/>
              </a:rPr>
              <a:t>•‏ </a:t>
            </a:r>
            <a:r>
              <a:rPr sz="1150" b="1" dirty="0" err="1">
                <a:solidFill>
                  <a:srgbClr val="3A2A00"/>
                </a:solidFill>
                <a:latin typeface="Arial"/>
                <a:cs typeface="Arial"/>
              </a:rPr>
              <a:t>أقل</a:t>
            </a:r>
            <a:r>
              <a:rPr sz="1150" b="1" dirty="0">
                <a:solidFill>
                  <a:srgbClr val="3A2A00"/>
                </a:solidFill>
                <a:latin typeface="Arial"/>
                <a:cs typeface="Arial"/>
              </a:rPr>
              <a:t> </a:t>
            </a:r>
            <a:r>
              <a:rPr sz="1150" b="1" dirty="0" err="1">
                <a:solidFill>
                  <a:srgbClr val="3A2A00"/>
                </a:solidFill>
                <a:latin typeface="Arial"/>
                <a:cs typeface="Arial"/>
              </a:rPr>
              <a:t>سعر</a:t>
            </a:r>
            <a:r>
              <a:rPr sz="1150" b="1" dirty="0">
                <a:solidFill>
                  <a:srgbClr val="3A2A00"/>
                </a:solidFill>
                <a:latin typeface="Arial"/>
                <a:cs typeface="Arial"/>
              </a:rPr>
              <a:t> </a:t>
            </a:r>
            <a:r>
              <a:rPr sz="1150" b="1" dirty="0" err="1">
                <a:solidFill>
                  <a:srgbClr val="3A2A00"/>
                </a:solidFill>
                <a:latin typeface="Arial"/>
                <a:cs typeface="Arial"/>
              </a:rPr>
              <a:t>للمستوى</a:t>
            </a:r>
            <a:r>
              <a:rPr sz="1150" b="1" dirty="0">
                <a:solidFill>
                  <a:srgbClr val="3A2A00"/>
                </a:solidFill>
                <a:latin typeface="Arial"/>
                <a:cs typeface="Arial"/>
              </a:rPr>
              <a:t> </a:t>
            </a:r>
            <a:r>
              <a:rPr sz="1150" b="1" dirty="0" err="1">
                <a:solidFill>
                  <a:srgbClr val="3A2A00"/>
                </a:solidFill>
                <a:latin typeface="Arial"/>
                <a:cs typeface="Arial"/>
              </a:rPr>
              <a:t>الواحد</a:t>
            </a:r>
            <a:r>
              <a:rPr sz="1150" b="1" dirty="0">
                <a:solidFill>
                  <a:srgbClr val="3A2A00"/>
                </a:solidFill>
                <a:latin typeface="Arial"/>
                <a:cs typeface="Arial"/>
              </a:rPr>
              <a:t>.</a:t>
            </a:r>
          </a:p>
          <a:p>
            <a:pPr algn="r" rtl="1">
              <a:lnSpc>
                <a:spcPct val="145000"/>
              </a:lnSpc>
            </a:pPr>
            <a:r>
              <a:rPr sz="1150" b="1" dirty="0">
                <a:solidFill>
                  <a:srgbClr val="3A2A00"/>
                </a:solidFill>
                <a:latin typeface="Arial"/>
                <a:cs typeface="Arial"/>
              </a:rPr>
              <a:t>•‏ </a:t>
            </a:r>
            <a:r>
              <a:rPr lang="ar-SA" sz="1150" b="1" dirty="0">
                <a:solidFill>
                  <a:srgbClr val="3A2A00"/>
                </a:solidFill>
                <a:latin typeface="Arial"/>
                <a:cs typeface="Arial"/>
              </a:rPr>
              <a:t>اكبر فتره ممارسه انجليزي </a:t>
            </a:r>
            <a:r>
              <a:rPr lang="ar-SA" sz="1150" b="1" dirty="0" err="1">
                <a:solidFill>
                  <a:srgbClr val="3A2A00"/>
                </a:solidFill>
                <a:latin typeface="Arial"/>
                <a:cs typeface="Arial"/>
              </a:rPr>
              <a:t>متواصله</a:t>
            </a:r>
            <a:r>
              <a:rPr lang="ar-SA" sz="1150" b="1" dirty="0">
                <a:solidFill>
                  <a:srgbClr val="3A2A00"/>
                </a:solidFill>
                <a:latin typeface="Arial"/>
                <a:cs typeface="Arial"/>
              </a:rPr>
              <a:t> </a:t>
            </a:r>
            <a:endParaRPr sz="1150" b="1" dirty="0">
              <a:solidFill>
                <a:srgbClr val="3A2A00"/>
              </a:solidFill>
              <a:latin typeface="Arial"/>
              <a:cs typeface="Arial"/>
            </a:endParaRPr>
          </a:p>
        </p:txBody>
      </p:sp>
      <p:sp>
        <p:nvSpPr>
          <p:cNvPr id="27" name="Gold Card"/>
          <p:cNvSpPr/>
          <p:nvPr/>
        </p:nvSpPr>
        <p:spPr>
          <a:xfrm>
            <a:off x="1745848" y="2830000"/>
            <a:ext cx="3700000" cy="2130000"/>
          </a:xfrm>
          <a:prstGeom prst="roundRect">
            <a:avLst>
              <a:gd name="adj" fmla="val 8000"/>
            </a:avLst>
          </a:prstGeom>
          <a:solidFill>
            <a:srgbClr val="0B2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G Name"/>
          <p:cNvSpPr txBox="1"/>
          <p:nvPr/>
        </p:nvSpPr>
        <p:spPr>
          <a:xfrm>
            <a:off x="1745848" y="3070000"/>
            <a:ext cx="37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  <a:cs typeface="Arial"/>
              </a:rPr>
              <a:t>Gold‏ — ٣ مستويات في ٣ شهور</a:t>
            </a:r>
          </a:p>
        </p:txBody>
      </p:sp>
      <p:sp>
        <p:nvSpPr>
          <p:cNvPr id="29" name="G Price"/>
          <p:cNvSpPr txBox="1"/>
          <p:nvPr/>
        </p:nvSpPr>
        <p:spPr>
          <a:xfrm>
            <a:off x="1745848" y="3390000"/>
            <a:ext cx="370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Arial"/>
                <a:cs typeface="Arial"/>
              </a:rPr>
              <a:t>4,900‏ جنيه</a:t>
            </a:r>
          </a:p>
        </p:txBody>
      </p:sp>
      <p:sp>
        <p:nvSpPr>
          <p:cNvPr id="40" name="G Old"/>
          <p:cNvSpPr txBox="1"/>
          <p:nvPr/>
        </p:nvSpPr>
        <p:spPr>
          <a:xfrm>
            <a:off x="1745848" y="3890000"/>
            <a:ext cx="37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50" b="0" strike="sngStrike">
                <a:solidFill>
                  <a:srgbClr val="E4EBF6"/>
                </a:solidFill>
                <a:latin typeface="Arial"/>
                <a:cs typeface="Arial"/>
              </a:rPr>
              <a:t>بدلاً من 6,400 جنيه</a:t>
            </a:r>
            <a:r>
              <a:rPr sz="1150" b="1">
                <a:solidFill>
                  <a:srgbClr val="E4EBF6"/>
                </a:solidFill>
                <a:latin typeface="Arial"/>
                <a:cs typeface="Arial"/>
              </a:rPr>
              <a:t>  — وفّرت 1,500</a:t>
            </a:r>
          </a:p>
        </p:txBody>
      </p:sp>
      <p:sp>
        <p:nvSpPr>
          <p:cNvPr id="41" name="G Bullets"/>
          <p:cNvSpPr txBox="1"/>
          <p:nvPr/>
        </p:nvSpPr>
        <p:spPr>
          <a:xfrm>
            <a:off x="2025848" y="4210000"/>
            <a:ext cx="314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100" b="0">
                <a:solidFill>
                  <a:srgbClr val="9FB2D0"/>
                </a:solidFill>
                <a:latin typeface="Arial"/>
                <a:cs typeface="Arial"/>
              </a:rPr>
              <a:t>•‏ بداية قوية — 3 مستويات كاملة.</a:t>
            </a:r>
          </a:p>
          <a:p>
            <a:pPr algn="r" rtl="1">
              <a:lnSpc>
                <a:spcPct val="145000"/>
              </a:lnSpc>
            </a:pPr>
            <a:r>
              <a:rPr sz="1100" b="0">
                <a:solidFill>
                  <a:srgbClr val="9FB2D0"/>
                </a:solidFill>
                <a:latin typeface="Arial"/>
                <a:cs typeface="Arial"/>
              </a:rPr>
              <a:t>•‏ تقدر تكمّل لـ Super Gold بعدها.</a:t>
            </a:r>
          </a:p>
        </p:txBody>
      </p:sp>
      <p:sp>
        <p:nvSpPr>
          <p:cNvPr id="42" name="Level Box"/>
          <p:cNvSpPr/>
          <p:nvPr/>
        </p:nvSpPr>
        <p:spPr>
          <a:xfrm>
            <a:off x="6243055" y="5180000"/>
            <a:ext cx="5400000" cy="1250000"/>
          </a:xfrm>
          <a:prstGeom prst="roundRect">
            <a:avLst>
              <a:gd name="adj" fmla="val 8000"/>
            </a:avLst>
          </a:prstGeom>
          <a:solidFill>
            <a:srgbClr val="0B2E63"/>
          </a:solidFill>
          <a:ln>
            <a:noFill/>
          </a:ln>
          <a:effectLst/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43" name="Level Head"/>
          <p:cNvSpPr txBox="1"/>
          <p:nvPr/>
        </p:nvSpPr>
        <p:spPr>
          <a:xfrm>
            <a:off x="6523055" y="5330000"/>
            <a:ext cx="484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00" b="1">
                <a:solidFill>
                  <a:srgbClr val="F3D9A6"/>
                </a:solidFill>
                <a:latin typeface="Arial"/>
                <a:cs typeface="Arial"/>
              </a:rPr>
              <a:t>مستواك وميعادك</a:t>
            </a:r>
          </a:p>
        </p:txBody>
      </p:sp>
      <p:sp>
        <p:nvSpPr>
          <p:cNvPr id="44" name="Level Fields"/>
          <p:cNvSpPr txBox="1"/>
          <p:nvPr/>
        </p:nvSpPr>
        <p:spPr>
          <a:xfrm>
            <a:off x="6523055" y="5670000"/>
            <a:ext cx="4840000" cy="6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1150" b="0">
                <a:solidFill>
                  <a:srgbClr val="FFFFFF"/>
                </a:solidFill>
                <a:latin typeface="Arial"/>
                <a:cs typeface="Arial"/>
              </a:rPr>
              <a:t>المستوى: ………………     اليوم والساعة: ………………</a:t>
            </a:r>
          </a:p>
          <a:p>
            <a:pPr algn="r" rtl="1">
              <a:lnSpc>
                <a:spcPct val="160000"/>
              </a:lnSpc>
            </a:pPr>
            <a:r>
              <a:rPr sz="1150" b="0">
                <a:solidFill>
                  <a:srgbClr val="FFFFFF"/>
                </a:solidFill>
                <a:latin typeface="Arial"/>
                <a:cs typeface="Arial"/>
              </a:rPr>
              <a:t>تاريخ بداية الرحلة: ………………</a:t>
            </a:r>
          </a:p>
        </p:txBody>
      </p:sp>
      <p:sp>
        <p:nvSpPr>
          <p:cNvPr id="46" name="Pay Head"/>
          <p:cNvSpPr txBox="1"/>
          <p:nvPr/>
        </p:nvSpPr>
        <p:spPr>
          <a:xfrm>
            <a:off x="-1304152" y="5177297"/>
            <a:ext cx="484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000" b="1" dirty="0" err="1">
                <a:solidFill>
                  <a:srgbClr val="FFFFFF"/>
                </a:solidFill>
                <a:latin typeface="Arial"/>
                <a:cs typeface="Arial"/>
              </a:rPr>
              <a:t>طريقة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  <a:cs typeface="Arial"/>
              </a:rPr>
              <a:t>الدفع</a:t>
            </a:r>
            <a:endParaRPr sz="20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47" name="Pay Pill 47"/>
          <p:cNvSpPr/>
          <p:nvPr/>
        </p:nvSpPr>
        <p:spPr>
          <a:xfrm>
            <a:off x="3348640" y="5670000"/>
            <a:ext cx="2320000" cy="360000"/>
          </a:xfrm>
          <a:prstGeom prst="roundRect">
            <a:avLst>
              <a:gd name="adj" fmla="val 50000"/>
            </a:avLst>
          </a:prstGeom>
          <a:solidFill>
            <a:srgbClr val="A3121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Pay Label 48"/>
          <p:cNvSpPr txBox="1"/>
          <p:nvPr/>
        </p:nvSpPr>
        <p:spPr>
          <a:xfrm>
            <a:off x="3348640" y="5755000"/>
            <a:ext cx="2320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b="1" dirty="0" err="1">
                <a:solidFill>
                  <a:srgbClr val="FFFFFF"/>
                </a:solidFill>
                <a:latin typeface="Arial"/>
                <a:cs typeface="Arial"/>
              </a:rPr>
              <a:t>المحفظة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FFFFFF"/>
                </a:solidFill>
                <a:latin typeface="Arial"/>
                <a:cs typeface="Arial"/>
              </a:rPr>
              <a:t>الإلكترونية</a:t>
            </a:r>
            <a:endParaRPr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49" name="Pay Pill 49"/>
          <p:cNvSpPr/>
          <p:nvPr/>
        </p:nvSpPr>
        <p:spPr>
          <a:xfrm>
            <a:off x="868640" y="5670000"/>
            <a:ext cx="2320000" cy="360000"/>
          </a:xfrm>
          <a:prstGeom prst="roundRect">
            <a:avLst>
              <a:gd name="adj" fmla="val 50000"/>
            </a:avLst>
          </a:prstGeom>
          <a:solidFill>
            <a:srgbClr val="A3121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Pay Label 50"/>
          <p:cNvSpPr txBox="1"/>
          <p:nvPr/>
        </p:nvSpPr>
        <p:spPr>
          <a:xfrm>
            <a:off x="868640" y="5755000"/>
            <a:ext cx="2320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b="1" dirty="0" err="1">
                <a:solidFill>
                  <a:srgbClr val="FFFFFF"/>
                </a:solidFill>
                <a:latin typeface="Arial"/>
                <a:cs typeface="Arial"/>
              </a:rPr>
              <a:t>InstaPay</a:t>
            </a:r>
            <a:endParaRPr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1" name="Pay Pill 51"/>
          <p:cNvSpPr/>
          <p:nvPr/>
        </p:nvSpPr>
        <p:spPr>
          <a:xfrm>
            <a:off x="3348640" y="6080000"/>
            <a:ext cx="2320000" cy="360000"/>
          </a:xfrm>
          <a:prstGeom prst="roundRect">
            <a:avLst>
              <a:gd name="adj" fmla="val 50000"/>
            </a:avLst>
          </a:prstGeom>
          <a:solidFill>
            <a:srgbClr val="A3121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Pay Label 52"/>
          <p:cNvSpPr txBox="1"/>
          <p:nvPr/>
        </p:nvSpPr>
        <p:spPr>
          <a:xfrm>
            <a:off x="3348640" y="6093001"/>
            <a:ext cx="2320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b="1" dirty="0" err="1">
                <a:solidFill>
                  <a:srgbClr val="FFFFFF"/>
                </a:solidFill>
                <a:latin typeface="Arial"/>
                <a:cs typeface="Arial"/>
              </a:rPr>
              <a:t>كارت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FFFFFF"/>
                </a:solidFill>
                <a:latin typeface="Arial"/>
                <a:cs typeface="Arial"/>
              </a:rPr>
              <a:t>محلي</a:t>
            </a:r>
            <a:endParaRPr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3" name="Pay Pill 53"/>
          <p:cNvSpPr/>
          <p:nvPr/>
        </p:nvSpPr>
        <p:spPr>
          <a:xfrm>
            <a:off x="868640" y="6080000"/>
            <a:ext cx="2320000" cy="360000"/>
          </a:xfrm>
          <a:prstGeom prst="roundRect">
            <a:avLst>
              <a:gd name="adj" fmla="val 50000"/>
            </a:avLst>
          </a:prstGeom>
          <a:solidFill>
            <a:srgbClr val="A3121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Pay Label 54"/>
          <p:cNvSpPr txBox="1"/>
          <p:nvPr/>
        </p:nvSpPr>
        <p:spPr>
          <a:xfrm>
            <a:off x="868640" y="6165000"/>
            <a:ext cx="232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600" b="1" dirty="0" err="1">
                <a:solidFill>
                  <a:srgbClr val="FFFFFF"/>
                </a:solidFill>
                <a:latin typeface="Arial"/>
                <a:cs typeface="Arial"/>
              </a:rPr>
              <a:t>تحويل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rial"/>
                <a:cs typeface="Arial"/>
              </a:rPr>
              <a:t>بنكي</a:t>
            </a:r>
            <a:endParaRPr sz="16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1307</Words>
  <Application>Microsoft Macintosh PowerPoint</Application>
  <PresentationFormat>Widescreen</PresentationFormat>
  <Paragraphs>191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 hassan</cp:lastModifiedBy>
  <cp:revision>14</cp:revision>
  <dcterms:created xsi:type="dcterms:W3CDTF">2013-01-27T09:14:16Z</dcterms:created>
  <dcterms:modified xsi:type="dcterms:W3CDTF">2026-07-03T17:00:57Z</dcterms:modified>
  <cp:category/>
</cp:coreProperties>
</file>